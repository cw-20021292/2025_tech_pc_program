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93" r:id="rId4"/>
    <p:sldId id="291" r:id="rId5"/>
    <p:sldId id="288" r:id="rId6"/>
    <p:sldId id="292" r:id="rId7"/>
    <p:sldId id="261" r:id="rId8"/>
    <p:sldId id="267" r:id="rId9"/>
    <p:sldId id="285" r:id="rId10"/>
    <p:sldId id="286" r:id="rId11"/>
    <p:sldId id="270" r:id="rId12"/>
    <p:sldId id="295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96" r:id="rId21"/>
    <p:sldId id="294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60" r:id="rId30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9694"/>
    <a:srgbClr val="E6B9B8"/>
    <a:srgbClr val="E8E8E8"/>
    <a:srgbClr val="77777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2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F6D7B-A186-4A80-9CE7-5DA9CC93C035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B746B-6E05-4E4C-9C4D-7378B87DE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90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1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0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0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83680"/>
            <a:ext cx="9144000" cy="27432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59664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0" y="678994"/>
            <a:ext cx="9144000" cy="36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75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19" y="566863"/>
            <a:ext cx="823206" cy="2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67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619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637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5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107248" y="6612166"/>
            <a:ext cx="890067" cy="196850"/>
          </a:xfrm>
          <a:prstGeom prst="rect">
            <a:avLst/>
          </a:prstGeom>
        </p:spPr>
        <p:txBody>
          <a:bodyPr anchor="ctr"/>
          <a:lstStyle>
            <a:lvl1pPr algn="r">
              <a:defRPr sz="1200" b="0" i="0" baseline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BFE398B3-097E-4013-B793-1AF68D87271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43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151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39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1" r:id="rId3"/>
    <p:sldLayoutId id="2147483668" r:id="rId4"/>
    <p:sldLayoutId id="2147483674" r:id="rId5"/>
    <p:sldLayoutId id="2147483662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111251"/>
            <a:ext cx="9143999" cy="2352674"/>
          </a:xfrm>
          <a:prstGeom prst="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115361" y="726236"/>
            <a:ext cx="6669313" cy="169277"/>
            <a:chOff x="2115361" y="726236"/>
            <a:chExt cx="6669313" cy="169277"/>
          </a:xfrm>
        </p:grpSpPr>
        <p:sp>
          <p:nvSpPr>
            <p:cNvPr id="3" name="TextBox 9"/>
            <p:cNvSpPr txBox="1">
              <a:spLocks noChangeArrowheads="1"/>
            </p:cNvSpPr>
            <p:nvPr/>
          </p:nvSpPr>
          <p:spPr bwMode="auto">
            <a:xfrm>
              <a:off x="2115361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spc="-70" dirty="0">
                  <a:solidFill>
                    <a:srgbClr val="6C6560"/>
                  </a:solidFill>
                  <a:latin typeface="+mn-ea"/>
                </a:rPr>
                <a:t>Water</a:t>
              </a:r>
              <a:r>
                <a:rPr lang="ko-KR" altLang="en-US" sz="1100" kern="1800" spc="-70" dirty="0">
                  <a:solidFill>
                    <a:srgbClr val="6C6560"/>
                  </a:solidFill>
                  <a:latin typeface="+mn-ea"/>
                </a:rPr>
                <a:t>전장개발팀</a:t>
              </a:r>
              <a:endParaRPr kumimoji="0" lang="ko-KR" altLang="en-US" sz="1100" kern="1800" spc="-7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4" name="TextBox 9"/>
            <p:cNvSpPr txBox="1">
              <a:spLocks noChangeArrowheads="1"/>
            </p:cNvSpPr>
            <p:nvPr/>
          </p:nvSpPr>
          <p:spPr bwMode="auto">
            <a:xfrm>
              <a:off x="4076514" y="726236"/>
              <a:ext cx="181253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ko-KR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Water</a:t>
              </a:r>
              <a:r>
                <a:rPr lang="ko-KR" altLang="en-US" sz="1100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전장개발</a:t>
              </a:r>
              <a:r>
                <a:rPr lang="ko-KR" altLang="en-US" sz="1100" b="0" i="0" u="none" strike="noStrike" cap="none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팀 </a:t>
              </a:r>
              <a:r>
                <a:rPr lang="en-US" altLang="ko-KR" sz="1100" b="0" i="0" u="none" strike="noStrike" cap="none" dirty="0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/ </a:t>
              </a:r>
              <a:r>
                <a:rPr lang="ko-KR" altLang="en-US" sz="1100" b="0" i="0" u="none" strike="noStrike" cap="none" dirty="0" err="1">
                  <a:solidFill>
                    <a:srgbClr val="6C6560"/>
                  </a:solidFill>
                  <a:latin typeface="Calibri"/>
                  <a:ea typeface="Calibri"/>
                  <a:cs typeface="Calibri"/>
                  <a:sym typeface="Calibri"/>
                </a:rPr>
                <a:t>최범락</a:t>
              </a:r>
              <a:endParaRPr lang="ko-KR" altLang="en-US" sz="1100" b="0" i="0" u="none" strike="noStrike" cap="none" dirty="0">
                <a:solidFill>
                  <a:srgbClr val="6C656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TextBox 9"/>
            <p:cNvSpPr txBox="1">
              <a:spLocks noChangeArrowheads="1"/>
            </p:cNvSpPr>
            <p:nvPr/>
          </p:nvSpPr>
          <p:spPr bwMode="auto">
            <a:xfrm>
              <a:off x="6037667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25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</a:t>
              </a: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10</a:t>
              </a:r>
              <a:r>
                <a:rPr kumimoji="0" lang="en-US" altLang="ko-KR" sz="1100" kern="1800" dirty="0">
                  <a:solidFill>
                    <a:srgbClr val="6C6560"/>
                  </a:solidFill>
                  <a:latin typeface="+mn-ea"/>
                </a:rPr>
                <a:t>.XX</a:t>
              </a:r>
              <a:endParaRPr kumimoji="0"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  <p:sp>
          <p:nvSpPr>
            <p:cNvPr id="6" name="TextBox 9"/>
            <p:cNvSpPr txBox="1">
              <a:spLocks noChangeArrowheads="1"/>
            </p:cNvSpPr>
            <p:nvPr/>
          </p:nvSpPr>
          <p:spPr bwMode="auto">
            <a:xfrm>
              <a:off x="7482711" y="726236"/>
              <a:ext cx="1301963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b">
              <a:spAutoFit/>
            </a:bodyPr>
            <a:lstStyle/>
            <a:p>
              <a:pPr>
                <a:defRPr/>
              </a:pPr>
              <a:r>
                <a:rPr lang="en-US" altLang="ko-KR" sz="1100" kern="1800" dirty="0">
                  <a:solidFill>
                    <a:srgbClr val="6C6560"/>
                  </a:solidFill>
                  <a:latin typeface="+mn-ea"/>
                </a:rPr>
                <a:t>30.10.XX</a:t>
              </a:r>
              <a:endParaRPr lang="ko-KR" altLang="en-US" sz="1100" kern="1800" dirty="0">
                <a:solidFill>
                  <a:srgbClr val="6C6560"/>
                </a:solidFill>
                <a:latin typeface="+mn-ea"/>
              </a:endParaRPr>
            </a:p>
          </p:txBody>
        </p:sp>
      </p:grpSp>
      <p:sp>
        <p:nvSpPr>
          <p:cNvPr id="8" name="TextBox 9"/>
          <p:cNvSpPr txBox="1">
            <a:spLocks noChangeArrowheads="1"/>
          </p:cNvSpPr>
          <p:nvPr/>
        </p:nvSpPr>
        <p:spPr bwMode="auto">
          <a:xfrm>
            <a:off x="0" y="1631246"/>
            <a:ext cx="9143999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ko-KR" sz="3800" b="1" kern="1100" spc="-200" dirty="0">
                <a:solidFill>
                  <a:srgbClr val="5D4C41"/>
                </a:solidFill>
                <a:latin typeface="+mn-ea"/>
              </a:rPr>
              <a:t>[ R2 ] </a:t>
            </a:r>
            <a:r>
              <a:rPr kumimoji="0" lang="ko-KR" altLang="en-US" sz="3800" b="1" kern="1100" spc="-200" dirty="0">
                <a:solidFill>
                  <a:srgbClr val="5D4C41"/>
                </a:solidFill>
                <a:latin typeface="+mn-ea"/>
              </a:rPr>
              <a:t>기술과제 과제계획서</a:t>
            </a:r>
            <a:endParaRPr kumimoji="0"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[</a:t>
            </a:r>
            <a:r>
              <a:rPr lang="ko-KR" altLang="en-US" sz="3800" b="1" kern="1100" spc="-200" dirty="0">
                <a:solidFill>
                  <a:srgbClr val="5D4C41"/>
                </a:solidFill>
                <a:latin typeface="+mn-ea"/>
              </a:rPr>
              <a:t>순간온수 표준 시스템 고도화 </a:t>
            </a:r>
            <a:endParaRPr lang="en-US" altLang="ko-KR" sz="3800" b="1" kern="1100" spc="-2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3800" b="1" kern="1100" spc="-200" dirty="0">
                <a:solidFill>
                  <a:srgbClr val="5D4C41"/>
                </a:solidFill>
                <a:latin typeface="+mn-ea"/>
              </a:rPr>
              <a:t>및 히터 모듈화</a:t>
            </a:r>
            <a:r>
              <a:rPr lang="en-US" altLang="ko-KR" sz="3800" b="1" kern="1100" spc="-200" dirty="0">
                <a:solidFill>
                  <a:srgbClr val="5D4C41"/>
                </a:solidFill>
                <a:latin typeface="+mn-ea"/>
              </a:rPr>
              <a:t>]</a:t>
            </a:r>
            <a:endParaRPr kumimoji="0" lang="ko-KR" altLang="en-US" sz="3800" b="1" kern="1100" spc="-200" dirty="0">
              <a:solidFill>
                <a:srgbClr val="5D4C41"/>
              </a:solidFill>
              <a:latin typeface="+mn-ea"/>
            </a:endParaRP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2005457" y="4094519"/>
            <a:ext cx="54006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ko-KR" altLang="en-US" sz="1600" kern="1100" dirty="0">
                <a:solidFill>
                  <a:srgbClr val="5D4C41"/>
                </a:solidFill>
                <a:latin typeface="+mn-ea"/>
              </a:rPr>
              <a:t>환경기술연구소</a:t>
            </a:r>
            <a:endParaRPr kumimoji="0" lang="en-US" altLang="ko-KR" sz="1600" kern="1100" dirty="0">
              <a:solidFill>
                <a:srgbClr val="5D4C4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600" kern="1100" dirty="0">
                <a:solidFill>
                  <a:srgbClr val="5D4C41"/>
                </a:solidFill>
                <a:latin typeface="+mn-ea"/>
              </a:rPr>
              <a:t>25.11.07</a:t>
            </a:r>
            <a:endParaRPr kumimoji="0" lang="ko-KR" altLang="en-US" sz="1600" kern="1100" dirty="0">
              <a:solidFill>
                <a:srgbClr val="5D4C41"/>
              </a:solidFill>
              <a:latin typeface="+mn-ea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951791"/>
              </p:ext>
            </p:extLst>
          </p:nvPr>
        </p:nvGraphicFramePr>
        <p:xfrm>
          <a:off x="5796136" y="5157192"/>
          <a:ext cx="3212465" cy="936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25.</a:t>
                      </a:r>
                      <a:r>
                        <a:rPr lang="en-US" altLang="ko-KR" sz="1100" b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10.00. ~ 26.01.00.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lvl="0" algn="r" latinLnBrk="1"/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이병필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책임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김성민 선임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lvl="0" algn="r" latinLnBrk="1"/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최범락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급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박용신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급</a:t>
                      </a:r>
                    </a:p>
                  </a:txBody>
                  <a:tcP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9272537" y="351827"/>
            <a:ext cx="3671938" cy="2743798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u="sng" dirty="0">
                <a:solidFill>
                  <a:srgbClr val="FF0000"/>
                </a:solidFill>
                <a:latin typeface="+mn-ea"/>
              </a:rPr>
              <a:t>작성 전 필독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: &lt; </a:t>
            </a:r>
            <a:r>
              <a:rPr lang="ko-KR" altLang="en-US" sz="1100" b="1" dirty="0">
                <a:solidFill>
                  <a:srgbClr val="FF0000"/>
                </a:solidFill>
                <a:latin typeface="+mn-ea"/>
              </a:rPr>
              <a:t>기술과제계획서 작성 시 안내사항 </a:t>
            </a:r>
            <a:r>
              <a:rPr lang="en-US" altLang="ko-KR" sz="1100" b="1" dirty="0">
                <a:solidFill>
                  <a:srgbClr val="FF0000"/>
                </a:solidFill>
                <a:latin typeface="+mn-ea"/>
              </a:rPr>
              <a:t>&gt;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우측 상단에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C00000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표시가 되어있는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장표는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필히 작성해주시기 바랍니다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-.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필수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가 아닌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자유롭게 작성해주시면 되며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작성을 생략하신 경우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목차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(8page)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에 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‘</a:t>
            </a:r>
            <a:r>
              <a:rPr lang="ko-KR" altLang="en-US" sz="1000" b="1" u="sng" dirty="0">
                <a:solidFill>
                  <a:srgbClr val="0070C0"/>
                </a:solidFill>
                <a:latin typeface="+mn-ea"/>
              </a:rPr>
              <a:t>생략사유</a:t>
            </a:r>
            <a:r>
              <a:rPr lang="en-US" altLang="ko-KR" sz="1000" b="1" u="sng" dirty="0">
                <a:solidFill>
                  <a:srgbClr val="0070C0"/>
                </a:solidFill>
                <a:latin typeface="+mn-ea"/>
              </a:rPr>
              <a:t>’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만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 기입 부탁 드리겠습니다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아울러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생략하신 페이지는 페이지 삭제 해주시면 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9272538" y="0"/>
            <a:ext cx="1328787" cy="3196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FFFF00"/>
                </a:solidFill>
                <a:latin typeface="+mn-ea"/>
              </a:rPr>
              <a:t>표지</a:t>
            </a: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2237" y="610359"/>
            <a:ext cx="422039" cy="247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직사각형 13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478976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68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+mn-ea"/>
                <a:ea typeface="+mn-ea"/>
              </a:rPr>
              <a:pPr/>
              <a:t>3</a:t>
            </a:fld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648" y="573048"/>
            <a:ext cx="8928992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600"/>
              </a:spcAft>
            </a:pPr>
            <a:r>
              <a:rPr lang="ko-KR" altLang="en-US" sz="12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1. 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기술과제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Level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(R1, R2, R3)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 정의</a:t>
            </a:r>
            <a:endParaRPr lang="en-US" altLang="ko-KR" sz="1200" b="1" dirty="0">
              <a:solidFill>
                <a:prstClr val="black"/>
              </a:solidFill>
              <a:latin typeface="+mn-ea"/>
            </a:endParaRPr>
          </a:p>
          <a:p>
            <a:pPr fontAlgn="ctr"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‘R’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은 기술의 완성도 혹은 성숙도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(Readiness)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를 의미합니다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즉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기술과제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Level (R1, R2, R3)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이 기술의 난이도를 뜻하는 것이 아니라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  <a:p>
            <a:pPr fontAlgn="ctr">
              <a:spcAft>
                <a:spcPts val="6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제품 적용에 이르기까지 얼마나 완성도 높은 성숙된 기술인지를 판단하는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구분자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입니다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50312" y="1275985"/>
          <a:ext cx="8311056" cy="1714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100">
                  <a:extLst>
                    <a:ext uri="{9D8B030D-6E8A-4147-A177-3AD203B41FA5}">
                      <a16:colId xmlns:a16="http://schemas.microsoft.com/office/drawing/2014/main" val="1293907018"/>
                    </a:ext>
                  </a:extLst>
                </a:gridCol>
                <a:gridCol w="2742264">
                  <a:extLst>
                    <a:ext uri="{9D8B030D-6E8A-4147-A177-3AD203B41FA5}">
                      <a16:colId xmlns:a16="http://schemas.microsoft.com/office/drawing/2014/main" val="1108326327"/>
                    </a:ext>
                  </a:extLst>
                </a:gridCol>
                <a:gridCol w="2942706">
                  <a:extLst>
                    <a:ext uri="{9D8B030D-6E8A-4147-A177-3AD203B41FA5}">
                      <a16:colId xmlns:a16="http://schemas.microsoft.com/office/drawing/2014/main" val="4156990815"/>
                    </a:ext>
                  </a:extLst>
                </a:gridCol>
                <a:gridCol w="1753986">
                  <a:extLst>
                    <a:ext uri="{9D8B030D-6E8A-4147-A177-3AD203B41FA5}">
                      <a16:colId xmlns:a16="http://schemas.microsoft.com/office/drawing/2014/main" val="2823025070"/>
                    </a:ext>
                  </a:extLst>
                </a:gridCol>
              </a:tblGrid>
              <a:tr h="2490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Level</a:t>
                      </a:r>
                      <a:endParaRPr lang="ko-KR" altLang="en-US" sz="10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과제 수행 시 요구 수준 및 범위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029501"/>
                  </a:ext>
                </a:extLst>
              </a:tr>
              <a:tr h="4699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선행 기술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본격적인 기술 개발에 앞서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기술의 </a:t>
                      </a:r>
                      <a:b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 가능성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기초 성능 등을 확인하는 단계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기초 성능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Data,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구현성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계속 진행 여부 등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향후 개발 방향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기초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조사 및 단순 트라이</a:t>
                      </a:r>
                      <a:b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과제의 경우 실과제로 진행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616006"/>
                  </a:ext>
                </a:extLst>
              </a:tr>
              <a:tr h="4699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상용화 기술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완료 후 제품 개발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바로 활용할 수 있도록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상용화 수준의 기술을 개발하는 단계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Lab.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Scale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수준 이상의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신뢰성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Test</a:t>
                      </a:r>
                    </a:p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신기술의 경우 신뢰성 기준 수립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(TQA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협의 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확보될 기술이 무엇인지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확인되어야 함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 개발 없는 품질 개선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원가 절감 등의 과제는</a:t>
                      </a:r>
                      <a:b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실과제로 진행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025544"/>
                  </a:ext>
                </a:extLst>
              </a:tr>
              <a:tr h="4699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양산화 기술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제품 적용을 목적으로 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수행하는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 개발 단계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 개발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PJT)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당사 신뢰성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Test</a:t>
                      </a:r>
                    </a:p>
                    <a:p>
                      <a:pPr algn="l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-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제품 적용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ECO 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 개발 완료 근거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spcAft>
                          <a:spcPts val="600"/>
                        </a:spcAft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93257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7648" y="3060232"/>
            <a:ext cx="892899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600"/>
              </a:spcAft>
            </a:pP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2. 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연구소 기술과제와 실과제의 구분</a:t>
            </a:r>
            <a:endParaRPr lang="en-US" altLang="ko-KR" sz="1200" b="1" dirty="0">
              <a:solidFill>
                <a:prstClr val="black"/>
              </a:solidFill>
              <a:latin typeface="+mn-ea"/>
            </a:endParaRPr>
          </a:p>
          <a:p>
            <a:pPr fontAlgn="ctr">
              <a:spcAft>
                <a:spcPts val="6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기술과제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Level (R1, R2, R3)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로 연구소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실 기술과제를 구분하지 않습니다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연구소 기술과제가 아닌 나머지가 실 기술과제에 해당됩니다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fontAlgn="ctr">
              <a:spcAft>
                <a:spcPts val="6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 연구소 기술과제 및 실 기술과제 모두 모든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Level (R1, R2, R3)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의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PJT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수행이 가능합니다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fontAlgn="ctr">
              <a:spcAft>
                <a:spcPts val="6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 연구소 기술과제는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CTO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승인을 받고 진행이 되며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기술전략팀에서 관리합니다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실과제는 실 자체적으로 통제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관리합니다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48" y="4107393"/>
            <a:ext cx="892899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spcAft>
                <a:spcPts val="600"/>
              </a:spcAft>
            </a:pP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3. PJT Type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prstClr val="black"/>
                </a:solidFill>
                <a:latin typeface="+mn-ea"/>
              </a:rPr>
              <a:t>(1 ~ 4)</a:t>
            </a:r>
          </a:p>
          <a:p>
            <a:pPr fontAlgn="ctr">
              <a:spcAft>
                <a:spcPts val="6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난이도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시급성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 ‘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중요도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에 따라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Type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이 구분됩니다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( *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지표 관련 상세 설명은 뒷장 참조 바랍니다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.)</a:t>
            </a: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7648" y="6118388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20000"/>
              </a:lnSpc>
              <a:spcAft>
                <a:spcPts val="600"/>
              </a:spcAft>
            </a:pP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※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기술과제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PJT </a:t>
            </a:r>
            <a:r>
              <a:rPr lang="ko-KR" altLang="en-US" sz="1000" b="1" u="sng" dirty="0">
                <a:solidFill>
                  <a:srgbClr val="FF0000"/>
                </a:solidFill>
                <a:latin typeface="+mn-ea"/>
              </a:rPr>
              <a:t>평가 시 </a:t>
            </a:r>
            <a:r>
              <a:rPr lang="en-US" altLang="ko-KR" sz="1000" b="1" u="sng" dirty="0">
                <a:solidFill>
                  <a:srgbClr val="FF0000"/>
                </a:solidFill>
                <a:latin typeface="+mn-ea"/>
              </a:rPr>
              <a:t>Level (R1, R2, R3) </a:t>
            </a:r>
            <a:r>
              <a:rPr lang="ko-KR" altLang="en-US" sz="1000" b="1" u="sng" dirty="0">
                <a:solidFill>
                  <a:srgbClr val="FF0000"/>
                </a:solidFill>
                <a:latin typeface="+mn-ea"/>
              </a:rPr>
              <a:t>및 </a:t>
            </a:r>
            <a:r>
              <a:rPr lang="en-US" altLang="ko-KR" sz="1000" b="1" u="sng" dirty="0">
                <a:solidFill>
                  <a:srgbClr val="FF0000"/>
                </a:solidFill>
                <a:latin typeface="+mn-ea"/>
              </a:rPr>
              <a:t>PJT Type</a:t>
            </a:r>
            <a:r>
              <a:rPr lang="ko-KR" altLang="en-US" sz="1000" b="1" u="sng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b="1" u="sng" dirty="0">
                <a:solidFill>
                  <a:srgbClr val="FF0000"/>
                </a:solidFill>
                <a:latin typeface="+mn-ea"/>
              </a:rPr>
              <a:t>(1/2/3/4) </a:t>
            </a:r>
            <a:r>
              <a:rPr lang="ko-KR" altLang="en-US" sz="1000" b="1" u="sng" dirty="0">
                <a:solidFill>
                  <a:srgbClr val="FF0000"/>
                </a:solidFill>
                <a:latin typeface="+mn-ea"/>
              </a:rPr>
              <a:t>이 영향을 주지 않습니다</a:t>
            </a:r>
            <a:r>
              <a:rPr lang="en-US" altLang="ko-KR" sz="1000" b="1" u="sng" dirty="0">
                <a:solidFill>
                  <a:srgbClr val="FF0000"/>
                </a:solidFill>
                <a:latin typeface="+mn-ea"/>
              </a:rPr>
              <a:t>.</a:t>
            </a:r>
            <a:br>
              <a:rPr lang="en-US" altLang="ko-KR" sz="1000" b="1" u="sng" dirty="0">
                <a:solidFill>
                  <a:srgbClr val="FF0000"/>
                </a:solidFill>
                <a:latin typeface="+mn-ea"/>
              </a:rPr>
            </a:b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Level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은 정성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/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정량적으로 평가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Matrix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에 작동하지 않으며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, Type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에 따라 정량 평가 항목의 비율이 달라집니다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858" y="90994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+mn-ea"/>
              </a:rPr>
              <a:t>■ 기술과제 정의 및 설명</a:t>
            </a:r>
            <a:endParaRPr lang="ko-KR" altLang="en-US" b="1" i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550312" y="4856870"/>
          <a:ext cx="7145888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047">
                  <a:extLst>
                    <a:ext uri="{9D8B030D-6E8A-4147-A177-3AD203B41FA5}">
                      <a16:colId xmlns:a16="http://schemas.microsoft.com/office/drawing/2014/main" val="1880605098"/>
                    </a:ext>
                  </a:extLst>
                </a:gridCol>
                <a:gridCol w="944235">
                  <a:extLst>
                    <a:ext uri="{9D8B030D-6E8A-4147-A177-3AD203B41FA5}">
                      <a16:colId xmlns:a16="http://schemas.microsoft.com/office/drawing/2014/main" val="2794295912"/>
                    </a:ext>
                  </a:extLst>
                </a:gridCol>
                <a:gridCol w="944235">
                  <a:extLst>
                    <a:ext uri="{9D8B030D-6E8A-4147-A177-3AD203B41FA5}">
                      <a16:colId xmlns:a16="http://schemas.microsoft.com/office/drawing/2014/main" val="3318006311"/>
                    </a:ext>
                  </a:extLst>
                </a:gridCol>
                <a:gridCol w="944235">
                  <a:extLst>
                    <a:ext uri="{9D8B030D-6E8A-4147-A177-3AD203B41FA5}">
                      <a16:colId xmlns:a16="http://schemas.microsoft.com/office/drawing/2014/main" val="420679448"/>
                    </a:ext>
                  </a:extLst>
                </a:gridCol>
                <a:gridCol w="3618136">
                  <a:extLst>
                    <a:ext uri="{9D8B030D-6E8A-4147-A177-3AD203B41FA5}">
                      <a16:colId xmlns:a16="http://schemas.microsoft.com/office/drawing/2014/main" val="4132442454"/>
                    </a:ext>
                  </a:extLst>
                </a:gridCol>
              </a:tblGrid>
              <a:tr h="235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Type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난이도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시급성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중요도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694873"/>
                  </a:ext>
                </a:extLst>
              </a:tr>
              <a:tr h="235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조건이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‘P’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149182"/>
                  </a:ext>
                </a:extLst>
              </a:tr>
              <a:tr h="235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‘P‘ 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과제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554981"/>
                  </a:ext>
                </a:extLst>
              </a:tr>
              <a:tr h="235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‘P’ 1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과제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‘N’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수치가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 Type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부여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953738"/>
                  </a:ext>
                </a:extLst>
              </a:tr>
              <a:tr h="235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N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 외의 과제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715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110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858" y="90994"/>
            <a:ext cx="5280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+mn-ea"/>
              </a:rPr>
              <a:t>■ </a:t>
            </a:r>
            <a:r>
              <a:rPr lang="ko-KR" altLang="en-US" b="1" dirty="0" err="1">
                <a:solidFill>
                  <a:prstClr val="black"/>
                </a:solidFill>
                <a:latin typeface="+mn-ea"/>
              </a:rPr>
              <a:t>기술과제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Type 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선정을 위한 항목 정의 및 설명</a:t>
            </a:r>
            <a:endParaRPr lang="ko-KR" altLang="en-US" b="1" i="1" dirty="0">
              <a:solidFill>
                <a:prstClr val="black"/>
              </a:solidFill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225522"/>
              </p:ext>
            </p:extLst>
          </p:nvPr>
        </p:nvGraphicFramePr>
        <p:xfrm>
          <a:off x="162518" y="1677421"/>
          <a:ext cx="8912473" cy="4393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537">
                  <a:extLst>
                    <a:ext uri="{9D8B030D-6E8A-4147-A177-3AD203B41FA5}">
                      <a16:colId xmlns:a16="http://schemas.microsoft.com/office/drawing/2014/main" val="3186897944"/>
                    </a:ext>
                  </a:extLst>
                </a:gridCol>
                <a:gridCol w="813875">
                  <a:extLst>
                    <a:ext uri="{9D8B030D-6E8A-4147-A177-3AD203B41FA5}">
                      <a16:colId xmlns:a16="http://schemas.microsoft.com/office/drawing/2014/main" val="4248017400"/>
                    </a:ext>
                  </a:extLst>
                </a:gridCol>
                <a:gridCol w="188400">
                  <a:extLst>
                    <a:ext uri="{9D8B030D-6E8A-4147-A177-3AD203B41FA5}">
                      <a16:colId xmlns:a16="http://schemas.microsoft.com/office/drawing/2014/main" val="1392998568"/>
                    </a:ext>
                  </a:extLst>
                </a:gridCol>
                <a:gridCol w="6911661">
                  <a:extLst>
                    <a:ext uri="{9D8B030D-6E8A-4147-A177-3AD203B41FA5}">
                      <a16:colId xmlns:a16="http://schemas.microsoft.com/office/drawing/2014/main" val="3184464990"/>
                    </a:ext>
                  </a:extLst>
                </a:gridCol>
              </a:tblGrid>
              <a:tr h="2940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항목 별 속성에 대한 기준 정의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b="0" dirty="0">
                        <a:solidFill>
                          <a:srgbClr val="5D4C4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854634"/>
                  </a:ext>
                </a:extLst>
              </a:tr>
              <a:tr h="35812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난이도</a:t>
                      </a:r>
                    </a:p>
                  </a:txBody>
                  <a:tcPr marL="18000" marR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none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otential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 개발이 매우 어렵거나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과제 수행에 있어 많은 리스크나 이슈가 예상됨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 개발 성공률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수준의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고난이도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기술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*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업무량은 난이도와 관련이 없음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741909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5D4C41"/>
                        </a:solidFill>
                      </a:endParaRPr>
                    </a:p>
                  </a:txBody>
                  <a:tcPr anchor="ctr"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mportant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난이도가 어려운 과제로 개발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Risk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존재하지만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PJT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수행 간 극복이 가능한 과제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883991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5D4C41"/>
                        </a:solidFill>
                      </a:endParaRPr>
                    </a:p>
                  </a:txBody>
                  <a:tcPr anchor="ctr"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N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ecessary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 기술 개발 경험이 있는 기술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최초 시도 과제라도 자사 역량 수준을 고려할 때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큰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Risk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없이 개발 가능한 기술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자사의 과제 수행 비율이 낮은 과제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소싱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과제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042150"/>
                  </a:ext>
                </a:extLst>
              </a:tr>
              <a:tr h="35812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시급성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기술적 측면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none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otential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기술을 당장 확보하지 않을 경우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특허 장벽으로 인해 타사 대비 뒤쳐지거나 개발 제품에 적용이 어려운 경우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특허를 통해 타사에 진입 장벽을 구축할 수 있거나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타사가 먼저 개발하면 타사 특허 극복에 오랜 기간이 필요한 기술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*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라인업 적용 계획이 당장 존재하여 시급하게 개발해야 하는 개념과는 무관함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235677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5D4C41"/>
                        </a:solidFill>
                      </a:endParaRPr>
                    </a:p>
                  </a:txBody>
                  <a:tcPr anchor="ctr"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mportant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라인업의 핵심 기술로서 제품 개발 적용 계획이 있는 기술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*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라인업 단순 적용 기술은 해당하지 않음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중기 제품 경쟁력 확보를 위해 빠른 기술 확보를 요하는 기술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54724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5D4C41"/>
                        </a:solidFill>
                      </a:endParaRPr>
                    </a:p>
                  </a:txBody>
                  <a:tcPr anchor="ctr"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N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ecessary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중기 제품 적용 계획은 없으나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미래를 위한 사전 확보 기술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기술적 시급성과는 무관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타사와의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기술경쟁과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관련이 없는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라인업 핵심 기술은 아닌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하지만 라인업 적용 예정이거나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필요성이 명확한 과제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027748"/>
                  </a:ext>
                </a:extLst>
              </a:tr>
              <a:tr h="358124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중요성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측면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u="none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P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otential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경제성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측면에서 효과가 매우 큰 과제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기술적 난이도와는 무관함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42624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I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mportant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측면에서 큰 효과가 예상되나 매우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긴급하지는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않은 과제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측면에서 명확한 효과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경영이익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시장 확장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효율 향상 등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예상되는 과제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878381"/>
                  </a:ext>
                </a:extLst>
              </a:tr>
              <a:tr h="35812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N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Arial monospaced for SAP" panose="020B0609020202030204" pitchFamily="49" charset="0"/>
                          <a:ea typeface="+mn-ea"/>
                        </a:rPr>
                        <a:t>ecessary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Arial monospaced for SAP" panose="020B0609020202030204" pitchFamily="49" charset="0"/>
                        <a:ea typeface="+mn-ea"/>
                      </a:endParaRPr>
                    </a:p>
                  </a:txBody>
                  <a:tcPr marL="18000" marR="18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 측면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경영이익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시장 확장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효율 향상 등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에서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기대 효과가 크지는 않지만 개발 필요성이 명확한 과제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62906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15008" y="1191984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>
              <a:defRPr/>
            </a:pP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※ PJT Type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선정을 위한 각 항목별 정의입니다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과제 수행자가 생각하는 기준에 체크해 주세요</a:t>
            </a:r>
            <a:endParaRPr lang="en-US" altLang="ko-KR" sz="1000" kern="0" dirty="0">
              <a:solidFill>
                <a:prstClr val="black"/>
              </a:solidFill>
              <a:latin typeface="+mn-ea"/>
            </a:endParaRPr>
          </a:p>
          <a:p>
            <a:pPr lvl="0" latinLnBrk="0">
              <a:defRPr/>
            </a:pP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  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해당 내용을 참고하여 과제 심의 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Committee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를 통해 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PJT Type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이 선정됩니다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008" y="706547"/>
            <a:ext cx="892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latinLnBrk="0">
              <a:defRPr/>
            </a:pP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→ 각 항목별 속성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기준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선정은 기술전략팀에서 과제 심의 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Committee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를 통해 최종 확정합니다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lvl="0" latinLnBrk="0">
              <a:defRPr/>
            </a:pP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    *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월 단위 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CTO 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보고를 통해 변경 필요시 조정될 수 있습니다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.</a:t>
            </a:r>
            <a:r>
              <a:rPr lang="ko-KR" altLang="en-US" sz="1000" kern="0" dirty="0">
                <a:solidFill>
                  <a:prstClr val="black"/>
                </a:solidFill>
                <a:latin typeface="+mn-ea"/>
              </a:rPr>
              <a:t>   </a:t>
            </a:r>
            <a:r>
              <a:rPr lang="en-US" altLang="ko-KR" sz="1000" kern="0" dirty="0">
                <a:solidFill>
                  <a:prstClr val="black"/>
                </a:solidFill>
                <a:latin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658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858" y="90994"/>
            <a:ext cx="3817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+mn-ea"/>
              </a:rPr>
              <a:t>■ 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Q/C/D CHECK LIST (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실장 작성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)</a:t>
            </a:r>
            <a:endParaRPr lang="ko-KR" altLang="en-US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008" y="646166"/>
            <a:ext cx="89289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ko-KR" sz="1000" dirty="0">
                <a:solidFill>
                  <a:prstClr val="black"/>
                </a:solidFill>
              </a:rPr>
              <a:t>Q/C/D </a:t>
            </a:r>
            <a:r>
              <a:rPr lang="ko-KR" altLang="en-US" sz="1000" dirty="0">
                <a:solidFill>
                  <a:prstClr val="black"/>
                </a:solidFill>
              </a:rPr>
              <a:t>목표 설정 객관화를 위한 체크 리스트 입니다</a:t>
            </a:r>
            <a:r>
              <a:rPr lang="en-US" altLang="ko-KR" sz="1000" dirty="0">
                <a:solidFill>
                  <a:prstClr val="black"/>
                </a:solidFill>
              </a:rPr>
              <a:t>. </a:t>
            </a:r>
            <a:r>
              <a:rPr lang="ko-KR" altLang="en-US" sz="1000" dirty="0">
                <a:solidFill>
                  <a:prstClr val="black"/>
                </a:solidFill>
              </a:rPr>
              <a:t>평가 지표의 </a:t>
            </a:r>
            <a:r>
              <a:rPr lang="en-US" altLang="ko-KR" sz="1000" b="1" dirty="0">
                <a:solidFill>
                  <a:prstClr val="black"/>
                </a:solidFill>
              </a:rPr>
              <a:t>B </a:t>
            </a:r>
            <a:r>
              <a:rPr lang="ko-KR" altLang="en-US" sz="1000" b="1" dirty="0">
                <a:solidFill>
                  <a:prstClr val="black"/>
                </a:solidFill>
              </a:rPr>
              <a:t>기준 수치</a:t>
            </a:r>
            <a:r>
              <a:rPr lang="ko-KR" altLang="en-US" sz="1000" dirty="0">
                <a:solidFill>
                  <a:prstClr val="black"/>
                </a:solidFill>
              </a:rPr>
              <a:t>를 보고 평가해주십시오</a:t>
            </a:r>
            <a:r>
              <a:rPr lang="en-US" altLang="ko-KR" sz="1000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8" name="Google Shape;96;p2"/>
          <p:cNvGraphicFramePr/>
          <p:nvPr>
            <p:extLst>
              <p:ext uri="{D42A27DB-BD31-4B8C-83A1-F6EECF244321}">
                <p14:modId xmlns:p14="http://schemas.microsoft.com/office/powerpoint/2010/main" val="120059723"/>
              </p:ext>
            </p:extLst>
          </p:nvPr>
        </p:nvGraphicFramePr>
        <p:xfrm>
          <a:off x="215007" y="892387"/>
          <a:ext cx="8624196" cy="545132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8483">
                  <a:extLst>
                    <a:ext uri="{9D8B030D-6E8A-4147-A177-3AD203B41FA5}">
                      <a16:colId xmlns:a16="http://schemas.microsoft.com/office/drawing/2014/main" val="2069437547"/>
                    </a:ext>
                  </a:extLst>
                </a:gridCol>
                <a:gridCol w="121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84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0033">
                  <a:extLst>
                    <a:ext uri="{9D8B030D-6E8A-4147-A177-3AD203B41FA5}">
                      <a16:colId xmlns:a16="http://schemas.microsoft.com/office/drawing/2014/main" val="454568763"/>
                    </a:ext>
                  </a:extLst>
                </a:gridCol>
                <a:gridCol w="690033">
                  <a:extLst>
                    <a:ext uri="{9D8B030D-6E8A-4147-A177-3AD203B41FA5}">
                      <a16:colId xmlns:a16="http://schemas.microsoft.com/office/drawing/2014/main" val="1918720152"/>
                    </a:ext>
                  </a:extLst>
                </a:gridCol>
                <a:gridCol w="1786469">
                  <a:extLst>
                    <a:ext uri="{9D8B030D-6E8A-4147-A177-3AD203B41FA5}">
                      <a16:colId xmlns:a16="http://schemas.microsoft.com/office/drawing/2014/main" val="2834595234"/>
                    </a:ext>
                  </a:extLst>
                </a:gridCol>
              </a:tblGrid>
              <a:tr h="3544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체크 항목 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 판단 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실장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항목별 의견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464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Q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 항목 설정이</a:t>
                      </a: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적절한가</a:t>
                      </a: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누락된 목표 성능 지표는 없는가</a:t>
                      </a: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 수준은 도전적인가</a:t>
                      </a: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제품에 적용 가능한 수준으로 목표를</a:t>
                      </a: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설정하였는가</a:t>
                      </a:r>
                      <a:endParaRPr dirty="0"/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3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464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제품에 적용될 수준으로 목표 설정이 되어있는가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원가절감의 경우</a:t>
                      </a: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원가 절감 목표</a:t>
                      </a: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수준이 도전적인가</a:t>
                      </a: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부품의 경우</a:t>
                      </a:r>
                      <a:r>
                        <a:rPr lang="en-US" altLang="ko-KR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기존 부품 대비</a:t>
                      </a: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상승폭이 적절한가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32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079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23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</a:t>
                      </a:r>
                      <a:endParaRPr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과제 수행 기간이</a:t>
                      </a: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적절하게 설정 됐는가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  <a:tabLst/>
                        <a:defRPr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다음 단계를 위한 </a:t>
                      </a:r>
                      <a:r>
                        <a:rPr lang="ko-KR" altLang="en-US" sz="1000" b="0" u="none" strike="noStrike" cap="none" baseline="0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필달</a:t>
                      </a:r>
                      <a:r>
                        <a:rPr lang="ko-KR" altLang="en-US" sz="1000" b="0" u="none" strike="noStrike" cap="none" baseline="0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일정이 고려 됐는가</a:t>
                      </a:r>
                      <a:endParaRPr lang="ko-KR" altLang="en-US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r>
                        <a:rPr lang="ko-KR" altLang="en-US" sz="10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부적합</a:t>
                      </a: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437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981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</a:t>
                      </a:r>
                      <a:endParaRPr lang="en-US" altLang="ko-KR"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의견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74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상품전략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-R&amp;D</a:t>
            </a:r>
            <a:r>
              <a:rPr kumimoji="0" lang="en-US" altLang="ko-KR" sz="24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4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Communication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양식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11" name="Google Shape;96;p2"/>
          <p:cNvGraphicFramePr/>
          <p:nvPr>
            <p:extLst>
              <p:ext uri="{D42A27DB-BD31-4B8C-83A1-F6EECF244321}">
                <p14:modId xmlns:p14="http://schemas.microsoft.com/office/powerpoint/2010/main" val="3677578835"/>
              </p:ext>
            </p:extLst>
          </p:nvPr>
        </p:nvGraphicFramePr>
        <p:xfrm>
          <a:off x="251520" y="1049725"/>
          <a:ext cx="8640959" cy="536327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3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3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786">
                  <a:extLst>
                    <a:ext uri="{9D8B030D-6E8A-4147-A177-3AD203B41FA5}">
                      <a16:colId xmlns:a16="http://schemas.microsoft.com/office/drawing/2014/main" val="2834595234"/>
                    </a:ext>
                  </a:extLst>
                </a:gridCol>
                <a:gridCol w="2321474">
                  <a:extLst>
                    <a:ext uri="{9D8B030D-6E8A-4147-A177-3AD203B41FA5}">
                      <a16:colId xmlns:a16="http://schemas.microsoft.com/office/drawing/2014/main" val="11944042"/>
                    </a:ext>
                  </a:extLst>
                </a:gridCol>
              </a:tblGrid>
              <a:tr h="291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ㅇㅇㅇ팀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ㅇㅇㅇ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작성일자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2025.01.XX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210113"/>
                  </a:ext>
                </a:extLst>
              </a:tr>
              <a:tr h="291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목표 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M/C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적정 </a:t>
                      </a:r>
                      <a:r>
                        <a:rPr lang="en-US" alt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M/C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621272"/>
                  </a:ext>
                </a:extLst>
              </a:tr>
              <a:tr h="291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기술 개발 완료 예정일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기술 개발 완료 적정일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561055"/>
                  </a:ext>
                </a:extLst>
              </a:tr>
              <a:tr h="291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의견</a:t>
                      </a: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32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상품성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  <a:tabLst/>
                        <a:defRPr/>
                      </a:pP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7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중요성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None/>
                        <a:tabLst/>
                        <a:defRPr/>
                      </a:pP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3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시급성</a:t>
                      </a:r>
                      <a:endParaRPr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Tx/>
                        <a:buChar char="-"/>
                      </a:pPr>
                      <a:endParaRPr lang="en-US" altLang="ko-KR"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1568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최종 의견</a:t>
                      </a:r>
                      <a:endParaRPr lang="en-US" altLang="ko-KR"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</a:t>
                      </a:r>
                      <a:endParaRPr lang="en-US" altLang="ko-KR"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요구 사항</a:t>
                      </a:r>
                      <a:endParaRPr sz="10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marR="0" lvl="0" indent="-1079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Noto Sans Symbols"/>
                        <a:buNone/>
                      </a:pPr>
                      <a:endParaRPr sz="10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5A5A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1520" y="780250"/>
            <a:ext cx="8640960" cy="246221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pPr fontAlgn="ctr"/>
            <a:r>
              <a:rPr lang="ko-KR" altLang="en-US" sz="1000" dirty="0"/>
              <a:t>과제계획서 초안 작성  후 상품기획실 검토의견을 작성하는 양식입니다</a:t>
            </a:r>
            <a:r>
              <a:rPr lang="en-US" altLang="ko-KR" sz="1000" dirty="0"/>
              <a:t>. (</a:t>
            </a:r>
            <a:r>
              <a:rPr lang="ko-KR" altLang="en-US" sz="1000" dirty="0"/>
              <a:t>필수 사항으로 미 작성 시 과제 진행 불가합니다</a:t>
            </a:r>
            <a:r>
              <a:rPr lang="en-US" altLang="ko-KR" sz="1000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339609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9858" y="90994"/>
            <a:ext cx="45801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+mn-ea"/>
              </a:rPr>
              <a:t>■ 핵심 기술 개발 예상 이슈  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CHECK LIST</a:t>
            </a:r>
            <a:endParaRPr lang="ko-KR" altLang="en-US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489412"/>
            <a:ext cx="89289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기술과제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평가심의시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사전에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구매팀과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협의를 위한 체크 리스트 입니다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모든 항목에 대해 필히 체크 바랍니다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fontAlgn="ctr"/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</a:p>
          <a:p>
            <a:pPr fontAlgn="ctr"/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※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 개발 시 업체 선정 단계부터 협력 사항에 대해 반드시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구매실에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정보를 공유한다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fontAlgn="ctr"/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: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기획 및 착수 단계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협력사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선정 필요 시 즉시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구매실에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정보 공유 및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구매실을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통하여 업체를 선정한다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</a:t>
            </a:r>
          </a:p>
          <a:p>
            <a:pPr fontAlgn="ctr"/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 :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 협력 필요 시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업체 방문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자료 요청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 지원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모든 사항에 대해 </a:t>
            </a:r>
            <a:r>
              <a:rPr lang="ko-KR" altLang="en-US" sz="1000" dirty="0" err="1">
                <a:solidFill>
                  <a:prstClr val="black"/>
                </a:solidFill>
                <a:latin typeface="+mn-ea"/>
              </a:rPr>
              <a:t>구매실에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 공유한다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53884"/>
              </p:ext>
            </p:extLst>
          </p:nvPr>
        </p:nvGraphicFramePr>
        <p:xfrm>
          <a:off x="107504" y="1455076"/>
          <a:ext cx="8937959" cy="4396834"/>
        </p:xfrm>
        <a:graphic>
          <a:graphicData uri="http://schemas.openxmlformats.org/drawingml/2006/table">
            <a:tbl>
              <a:tblPr/>
              <a:tblGrid>
                <a:gridCol w="304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9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18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n-ea"/>
                          <a:ea typeface="+mn-ea"/>
                        </a:rPr>
                        <a:t>No.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기술 개발을 위한 사전 체크 리스트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n-ea"/>
                          <a:ea typeface="+mn-ea"/>
                        </a:rPr>
                        <a:t>Check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821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부품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개발 시 협력업체 관련 아래 해당 사항에 </a:t>
                      </a:r>
                      <a:r>
                        <a:rPr lang="ko-KR" altLang="en-US" sz="900" u="none" strike="noStrike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체크</a:t>
                      </a:r>
                      <a:r>
                        <a:rPr lang="en-US" altLang="ko-KR" sz="900" u="none" strike="noStrike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색칠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를 해주시기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체크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붉은 음영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기술개발이 공동 또는 자체개발인지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>
                        <a:buAutoNum type="arabicParenR"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자체개발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위탁개발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4)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산학개발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기술 자료 요청 시 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기술자료 요구서 작성 여부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요구서 작성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요구서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미작성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해당사항없음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개발 시 업체가 기존 등록 업체인지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신규 등록을 해야 하는 업체인지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>
                        <a:buAutoNum type="arabicParenR"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기존업체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신규업체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공동개발 시 경우 당사의 역할은 어느 정도인지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부품설계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성능및신뢰성평가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개발 </a:t>
                      </a:r>
                      <a:r>
                        <a:rPr lang="en-US" sz="900" u="none" strike="noStrike">
                          <a:effectLst/>
                          <a:latin typeface="+mn-ea"/>
                          <a:ea typeface="+mn-ea"/>
                        </a:rPr>
                        <a:t>Spec.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선정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공동개발 시 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기술 의존도는 어느 정도인지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>
                        <a:buAutoNum type="arabicParenR"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협력사특허활용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협력사노하우활용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범용기술활용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당사기술력활용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공동개발 시 협력사의 기술 가치는 어느 정도인지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다수업체보유기술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다수이나 경쟁우수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소수업체 보유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단독기술 보유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개발기간이 단기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중기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장기인지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단기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년미만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중기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(1~3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장기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(3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년이상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개발 완료 후 즉시 제품에 적용 가능한지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즉시적용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향후적용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순수 기술개발인지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양산을 전제로 한 기술개발인지 여부를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순수개발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양산전제개발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양산 전제로 개발 시 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당사 독점공급 또는 독점으로만 거래가 가능한지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독점공급가능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독점공급불가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기술개발의 목적은 무엇인지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기존양산품적용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신제품적용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기술개발 완료 후 업체 이원화 가능 여부를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이원화필요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불필요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 개발 전 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협력사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자체 관련특허 보유 유무에 대해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관련특허보유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미보유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기술개발 결과물에 대한 특허 소유 여부를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단독특허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공동특허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81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기술개발 결과물에 대한 협력사의 요구사항은 무엇인지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공급물량 개런티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타사공급 가능여부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양산 후 이원화</a:t>
                      </a:r>
                      <a:b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불가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4)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요구사항 없음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협력업체 선정 배경은 무엇인지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>
                          <a:effectLst/>
                          <a:latin typeface="+mn-ea"/>
                          <a:ea typeface="+mn-ea"/>
                        </a:rPr>
                        <a:t>원천기술보유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기존등록협력사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품질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생산력우수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82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기술 개발 시 구매조건부 외 국비지원 과제 진행 가능 여부를 체크해 주시기 바랍니다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국비지원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 err="1">
                          <a:effectLst/>
                          <a:latin typeface="+mn-ea"/>
                          <a:ea typeface="+mn-ea"/>
                        </a:rPr>
                        <a:t>미지원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876999"/>
              </p:ext>
            </p:extLst>
          </p:nvPr>
        </p:nvGraphicFramePr>
        <p:xfrm>
          <a:off x="150937" y="5963629"/>
          <a:ext cx="8856984" cy="536820"/>
        </p:xfrm>
        <a:graphic>
          <a:graphicData uri="http://schemas.openxmlformats.org/drawingml/2006/table">
            <a:tbl>
              <a:tblPr/>
              <a:tblGrid>
                <a:gridCol w="160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8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410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구매실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사전검토결과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검토 완료 여부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(O/X)</a:t>
                      </a:r>
                      <a:endParaRPr lang="en-US" altLang="ko-KR" sz="900" b="0" i="0" u="none" strike="noStrike" dirty="0">
                        <a:solidFill>
                          <a:srgbClr val="FF7C8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피드백 의견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895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9858" y="90994"/>
            <a:ext cx="5368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+mn-ea"/>
              </a:rPr>
              <a:t>■ 안전성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인증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분석 검토 </a:t>
            </a:r>
            <a:r>
              <a:rPr lang="en-US" altLang="ko-KR" b="1" dirty="0">
                <a:solidFill>
                  <a:prstClr val="black"/>
                </a:solidFill>
                <a:latin typeface="+mn-ea"/>
              </a:rPr>
              <a:t>CHECK LIST_</a:t>
            </a:r>
            <a:r>
              <a:rPr lang="ko-KR" altLang="en-US" b="1" dirty="0">
                <a:solidFill>
                  <a:prstClr val="black"/>
                </a:solidFill>
                <a:latin typeface="+mn-ea"/>
              </a:rPr>
              <a:t>기술과제</a:t>
            </a:r>
            <a:endParaRPr lang="ko-KR" altLang="en-US" b="1" i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937" y="646166"/>
            <a:ext cx="89289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기술과제 평가심의 시 사전에 안전성 검토여부 및 범위를 정하기 위한 체크 리스트 입니다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해당 항목에 대해 필히 체크 바랍니다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166794"/>
              </p:ext>
            </p:extLst>
          </p:nvPr>
        </p:nvGraphicFramePr>
        <p:xfrm>
          <a:off x="150937" y="904875"/>
          <a:ext cx="8856984" cy="2551833"/>
        </p:xfrm>
        <a:graphic>
          <a:graphicData uri="http://schemas.openxmlformats.org/drawingml/2006/table">
            <a:tbl>
              <a:tblPr/>
              <a:tblGrid>
                <a:gridCol w="27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8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5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5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71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n-ea"/>
                          <a:ea typeface="+mn-ea"/>
                        </a:rPr>
                        <a:t>No.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기술 안전성검토를 위한 사전 체크 리스트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effectLst/>
                          <a:latin typeface="+mn-ea"/>
                          <a:ea typeface="+mn-ea"/>
                        </a:rPr>
                        <a:t>Check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872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기술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부품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개발 시 안전성 관련 아래 해당 사항에 </a:t>
                      </a:r>
                      <a:r>
                        <a:rPr lang="ko-KR" altLang="en-US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체크</a:t>
                      </a:r>
                      <a:r>
                        <a:rPr lang="en-US" altLang="ko-KR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색칠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를 해주시기 바랍니다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1" i="0" u="none" strike="noStrike" spc="-4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체크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붉은 음영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93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인체 노출 가능성</a:t>
                      </a:r>
                      <a:r>
                        <a:rPr lang="ko-KR" altLang="en-US" sz="900" u="none" strike="noStrike" baseline="0" dirty="0">
                          <a:effectLst/>
                          <a:latin typeface="+mn-ea"/>
                          <a:ea typeface="+mn-ea"/>
                        </a:rPr>
                        <a:t>이 있는 부품과 관계되어</a:t>
                      </a:r>
                      <a:r>
                        <a:rPr lang="en-US" altLang="ko-KR" sz="900" u="none" strike="noStrike" baseline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u="none" strike="noStrike" baseline="0" dirty="0">
                          <a:effectLst/>
                          <a:latin typeface="+mn-ea"/>
                          <a:ea typeface="+mn-ea"/>
                        </a:rPr>
                        <a:t>기존 대비 변경사항이 있습니까</a:t>
                      </a:r>
                      <a:r>
                        <a:rPr lang="en-US" altLang="ko-KR" sz="900" u="none" strike="noStrike" baseline="0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먹는 물 접촉 부품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청정기 필터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1000" u="none" strike="noStrike" dirty="0">
                          <a:effectLst/>
                          <a:latin typeface="+mn-ea"/>
                          <a:ea typeface="+mn-ea"/>
                        </a:rPr>
                        <a:t>피부 접촉 부품</a:t>
                      </a:r>
                    </a:p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연수기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 기능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사용상 피부 접촉이 발생하는 경우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4)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사용 물질에 신규 사항이 포함되어 있습니까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 </a:t>
                      </a:r>
                      <a:endParaRPr lang="en-US" altLang="ko-KR" sz="900" b="0" i="0" u="none" strike="noStrike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신규물질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신규업체</a:t>
                      </a: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해당 없음</a:t>
                      </a: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900" b="0" i="0" spc="0" dirty="0"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900" b="0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900" b="0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살균 기능이 적용되어 있습니까</a:t>
                      </a:r>
                      <a:r>
                        <a:rPr lang="en-US" altLang="ko-KR" sz="900" b="0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r>
                        <a:rPr lang="ko-KR" altLang="en-US" sz="900" b="0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i="0" u="none" strike="noStrike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있음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적용부품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:                </a:t>
                      </a:r>
                      <a:r>
                        <a:rPr lang="ko-KR" altLang="en-US" sz="900" b="0" i="0" u="none" strike="noStrike" spc="0" dirty="0" err="1">
                          <a:effectLst/>
                          <a:latin typeface="+mn-ea"/>
                          <a:ea typeface="+mn-ea"/>
                        </a:rPr>
                        <a:t>해당물질</a:t>
                      </a:r>
                      <a:r>
                        <a:rPr lang="en-US" altLang="ko-KR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                          )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                  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baseline="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 제작 방식은</a:t>
                      </a:r>
                      <a:r>
                        <a:rPr lang="en-US" altLang="ko-KR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자체 제작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협력업체 제작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900" b="0" i="0" spc="0" baseline="0" dirty="0"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baseline="0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0" i="0" u="none" strike="noStrike" spc="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sng" strike="noStrike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자체 제작의 경우</a:t>
                      </a:r>
                      <a:r>
                        <a:rPr lang="en-US" altLang="ko-KR" sz="9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사용물질의 구입주체는 누구입니까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해외 제조업체로부터 직접 수입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국내 제조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수입업체로부터 구입</a:t>
                      </a: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기술 적용 제품의 판매범위는 어디입니까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국내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수출 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대상국 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및 </a:t>
                      </a:r>
                      <a:r>
                        <a:rPr lang="ko-KR" altLang="en-US" sz="900" b="0" i="0" u="none" strike="noStrike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말련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기존 기능의 새로운 방식 포함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신규 기술 또는</a:t>
                      </a:r>
                      <a:r>
                        <a:rPr lang="ko-KR" altLang="en-US" sz="900" b="0" i="0" u="none" strike="noStrike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신규 구조가 적용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되었습니까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없다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있다 → 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　                                   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사용자의 흡입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섭취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피부접촉 가능성이 있는 부가기능이 적용되었습니까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얼음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커피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탄산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살균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가습</a:t>
                      </a: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             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기계적 구동 부품이 있습니까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없다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있다 → 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>
                          <a:effectLst/>
                          <a:latin typeface="+mn-ea"/>
                          <a:ea typeface="+mn-ea"/>
                        </a:rPr>
                        <a:t>　                                          </a:t>
                      </a:r>
                      <a:r>
                        <a:rPr lang="en-US" altLang="ko-KR" sz="900" b="0" i="0" u="none" strike="noStrike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47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spc="0" dirty="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기타 위 사항에 포함되지 않으나 확인필요 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문의</a:t>
                      </a:r>
                      <a:r>
                        <a:rPr lang="en-US" altLang="ko-KR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사항</a:t>
                      </a:r>
                      <a:endParaRPr lang="en-US" altLang="ko-KR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endParaRPr lang="ko-KR" altLang="en-US" sz="900" b="0" i="0" u="none" strike="noStrike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6525" marR="6525" marT="6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842379"/>
              </p:ext>
            </p:extLst>
          </p:nvPr>
        </p:nvGraphicFramePr>
        <p:xfrm>
          <a:off x="150937" y="3518541"/>
          <a:ext cx="8856984" cy="1123797"/>
        </p:xfrm>
        <a:graphic>
          <a:graphicData uri="http://schemas.openxmlformats.org/drawingml/2006/table">
            <a:tbl>
              <a:tblPr/>
              <a:tblGrid>
                <a:gridCol w="324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안전성</a:t>
                      </a:r>
                      <a:r>
                        <a:rPr lang="en-US" altLang="ko-K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인증 파트 사전검토결과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안전성 파트 검토 완료 여부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완료  </a:t>
                      </a:r>
                      <a:r>
                        <a:rPr lang="en-US" altLang="ko-KR" sz="900" u="none" strike="noStrike" dirty="0">
                          <a:solidFill>
                            <a:schemeClr val="accent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900" u="none" strike="noStrike" dirty="0">
                          <a:solidFill>
                            <a:schemeClr val="accent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완료 시 체크 또는 음영</a:t>
                      </a:r>
                      <a:r>
                        <a:rPr lang="en-US" altLang="ko-KR" sz="900" u="none" strike="noStrike" dirty="0">
                          <a:solidFill>
                            <a:schemeClr val="accent2"/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en-US" altLang="ko-KR" sz="900" b="0" i="0" u="none" strike="noStrike" dirty="0">
                        <a:solidFill>
                          <a:srgbClr val="FF7C8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제출자료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97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검토결과 코멘트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900" dirty="0"/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61494"/>
              </p:ext>
            </p:extLst>
          </p:nvPr>
        </p:nvGraphicFramePr>
        <p:xfrm>
          <a:off x="150937" y="4704172"/>
          <a:ext cx="8856984" cy="1169079"/>
        </p:xfrm>
        <a:graphic>
          <a:graphicData uri="http://schemas.openxmlformats.org/drawingml/2006/table">
            <a:tbl>
              <a:tblPr/>
              <a:tblGrid>
                <a:gridCol w="279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8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5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27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07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51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No.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분석</a:t>
                      </a:r>
                      <a:r>
                        <a:rPr lang="en-US" altLang="ko-KR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/</a:t>
                      </a:r>
                      <a:r>
                        <a:rPr lang="ko-KR" alt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평가를 위한 사전 체크 리스트</a:t>
                      </a:r>
                      <a:endParaRPr lang="ko-KR" altLang="en-US" sz="9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나눔고딕"/>
                        <a:cs typeface="+mn-cs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1" u="none" strike="noStrike" dirty="0">
                          <a:effectLst/>
                          <a:latin typeface="+mn-ea"/>
                          <a:ea typeface="+mn-ea"/>
                        </a:rPr>
                        <a:t>Check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12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기술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부품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개발 시 안전성 관련 아래 해당 사항에 </a:t>
                      </a:r>
                      <a:r>
                        <a:rPr lang="ko-KR" altLang="en-US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체크</a:t>
                      </a:r>
                      <a:r>
                        <a:rPr lang="en-US" altLang="ko-KR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spc="-40" baseline="0" dirty="0">
                          <a:solidFill>
                            <a:schemeClr val="accent2"/>
                          </a:solidFill>
                          <a:effectLst/>
                          <a:latin typeface="+mn-ea"/>
                          <a:ea typeface="+mn-ea"/>
                        </a:rPr>
                        <a:t>색칠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를 해주시기 바랍니다</a:t>
                      </a:r>
                      <a:r>
                        <a:rPr lang="en-US" altLang="ko-KR" sz="900" u="none" strike="noStrike" spc="-40" baseline="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900" b="1" i="0" u="none" strike="noStrike" spc="-4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  체크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붉은 음영</a:t>
                      </a: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u="none" strike="noStrike" baseline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냄새 우려가 있거나 탈취 평가가 필요합니까</a:t>
                      </a:r>
                      <a:r>
                        <a:rPr lang="en-US" altLang="ko-KR" sz="900" u="none" strike="noStrike" baseline="0" dirty="0"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물맛 평가가 필요합니까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용출물질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안전성 평가가 필요합니까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예 </a:t>
                      </a:r>
                      <a:r>
                        <a:rPr lang="ko-KR" altLang="en-US" sz="900" b="0" i="0" u="none" strike="noStrike" kern="1200" spc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→ </a:t>
                      </a:r>
                      <a:r>
                        <a:rPr lang="en-US" altLang="ko-KR" sz="900" b="0" i="0" u="none" strike="noStrike" kern="1200" spc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spc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     필요한 부품 기입 </a:t>
                      </a:r>
                      <a:r>
                        <a:rPr lang="ko-KR" altLang="en-US" sz="900" b="0" i="0" u="none" strike="noStrike" kern="1200" spc="0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     </a:t>
                      </a:r>
                      <a:r>
                        <a:rPr lang="en-US" altLang="ko-KR" sz="900" b="0" i="0" u="none" strike="noStrike" kern="1200" spc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나눔고딕"/>
                          <a:cs typeface="+mn-cs"/>
                        </a:rPr>
                        <a:t>)</a:t>
                      </a:r>
                      <a:endParaRPr lang="ko-KR" altLang="en-US" sz="900" b="0" i="0" u="none" strike="noStrike" kern="120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나눔고딕"/>
                        <a:cs typeface="+mn-cs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/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1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en-US" altLang="ko-KR" sz="9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위생성평가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 및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항살균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성능평가가</a:t>
                      </a:r>
                      <a:r>
                        <a:rPr lang="ko-KR" altLang="en-US" sz="9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 필요합니까</a:t>
                      </a:r>
                      <a:r>
                        <a:rPr lang="en-US" altLang="ko-KR" sz="900" b="0" i="0" u="none" strike="noStrike" baseline="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예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u="none" strike="noStrike" dirty="0"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14819"/>
              </p:ext>
            </p:extLst>
          </p:nvPr>
        </p:nvGraphicFramePr>
        <p:xfrm>
          <a:off x="150937" y="5963629"/>
          <a:ext cx="8856984" cy="536820"/>
        </p:xfrm>
        <a:graphic>
          <a:graphicData uri="http://schemas.openxmlformats.org/drawingml/2006/table">
            <a:tbl>
              <a:tblPr/>
              <a:tblGrid>
                <a:gridCol w="160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986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410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환경분석팀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사전검토결과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검토 완료 여부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(O/X)</a:t>
                      </a:r>
                      <a:endParaRPr lang="en-US" altLang="ko-KR" sz="900" b="0" i="0" u="none" strike="noStrike" dirty="0">
                        <a:solidFill>
                          <a:srgbClr val="FF7C8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피드백 의견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525" marR="6525" marT="6525" marB="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402316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+mn-ea"/>
                <a:ea typeface="+mn-ea"/>
              </a:rPr>
              <a:pPr/>
              <a:t>9</a:t>
            </a:fld>
            <a:endParaRPr lang="ko-KR" altLang="en-US" dirty="0">
              <a:latin typeface="+mn-ea"/>
              <a:ea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91486"/>
              </p:ext>
            </p:extLst>
          </p:nvPr>
        </p:nvGraphicFramePr>
        <p:xfrm>
          <a:off x="120650" y="2002488"/>
          <a:ext cx="8915402" cy="1295292"/>
        </p:xfrm>
        <a:graphic>
          <a:graphicData uri="http://schemas.openxmlformats.org/drawingml/2006/table">
            <a:tbl>
              <a:tblPr firstRow="1" bandRow="1"/>
              <a:tblGrid>
                <a:gridCol w="366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0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0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441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240">
                <a:tc gridSpan="8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달성 목표</a:t>
                      </a: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56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Spec.)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</a:t>
                      </a: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R2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시험조건</a:t>
                      </a: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9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99598"/>
              </p:ext>
            </p:extLst>
          </p:nvPr>
        </p:nvGraphicFramePr>
        <p:xfrm>
          <a:off x="120650" y="3320690"/>
          <a:ext cx="8915401" cy="2371218"/>
        </p:xfrm>
        <a:graphic>
          <a:graphicData uri="http://schemas.openxmlformats.org/drawingml/2006/table">
            <a:tbl>
              <a:tblPr firstRow="1" bandRow="1"/>
              <a:tblGrid>
                <a:gridCol w="100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827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378"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단계별 일정 계획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프로젝트 범위</a:t>
                      </a:r>
                    </a:p>
                  </a:txBody>
                  <a:tcPr marL="91435" marR="91435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552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진행 사항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목표 일정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55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선행기술 개발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과제기획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552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기술검토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552">
                <a:tc vMerge="1"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TR1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55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R2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상용화 기술 개발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개발계획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`23.XX.XX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552">
                <a:tc vMerge="1"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M/U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평가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`23.XX.XX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552">
                <a:tc vMerge="1"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TR2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`23.XX.XX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552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R3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양산화 기술 개발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부품개발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552">
                <a:tc vMerge="1"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평가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378">
                <a:tc vMerge="1">
                  <a:txBody>
                    <a:bodyPr/>
                    <a:lstStyle/>
                    <a:p>
                      <a:pPr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완료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405758"/>
              </p:ext>
            </p:extLst>
          </p:nvPr>
        </p:nvGraphicFramePr>
        <p:xfrm>
          <a:off x="120650" y="5711590"/>
          <a:ext cx="8915400" cy="868544"/>
        </p:xfrm>
        <a:graphic>
          <a:graphicData uri="http://schemas.openxmlformats.org/drawingml/2006/table">
            <a:tbl>
              <a:tblPr firstRow="1" bandRow="1"/>
              <a:tblGrid>
                <a:gridCol w="3984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6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문제점 및 난제 요소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 사용 계획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indent="-90488" latinLnBrk="1"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0488" indent="-90488" latinLnBrk="1">
                        <a:spcAft>
                          <a:spcPts val="200"/>
                        </a:spcAft>
                        <a:buFont typeface="Wingdings" pitchFamily="2" charset="2"/>
                        <a:buChar char="§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indent="-90488" algn="ctr" latinLnBrk="1">
                        <a:spcAft>
                          <a:spcPts val="200"/>
                        </a:spcAft>
                        <a:buFont typeface="Wingdings" pitchFamily="2" charset="2"/>
                        <a:buNone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indent="-90488" algn="l" latinLnBrk="1">
                        <a:spcAft>
                          <a:spcPts val="200"/>
                        </a:spcAft>
                        <a:buFont typeface="Wingdings" pitchFamily="2" charset="2"/>
                        <a:buNone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                         ②                             ③                               ④ 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indent="-90488" algn="ctr" latinLnBrk="1">
                        <a:spcAft>
                          <a:spcPts val="200"/>
                        </a:spcAft>
                        <a:buFont typeface="Wingdings" pitchFamily="2" charset="2"/>
                        <a:buNone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R2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marR="0" indent="-904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                         ②                             ③                               ④ 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indent="-90488" algn="ctr" latinLnBrk="1">
                        <a:spcAft>
                          <a:spcPts val="200"/>
                        </a:spcAft>
                        <a:buFont typeface="Wingdings" pitchFamily="2" charset="2"/>
                        <a:buNone/>
                      </a:pP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R3</a:t>
                      </a: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90488" marR="0" indent="-904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                          ②                             ③                               ④ 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03" marB="45703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58246"/>
              </p:ext>
            </p:extLst>
          </p:nvPr>
        </p:nvGraphicFramePr>
        <p:xfrm>
          <a:off x="120650" y="1036177"/>
          <a:ext cx="4384675" cy="949960"/>
        </p:xfrm>
        <a:graphic>
          <a:graphicData uri="http://schemas.openxmlformats.org/drawingml/2006/table">
            <a:tbl>
              <a:tblPr/>
              <a:tblGrid>
                <a:gridCol w="274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추진 배경 및 목적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</a:p>
                  </a:txBody>
                  <a:tcPr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83853"/>
              </p:ext>
            </p:extLst>
          </p:nvPr>
        </p:nvGraphicFramePr>
        <p:xfrm>
          <a:off x="4567238" y="1036177"/>
          <a:ext cx="4468812" cy="949960"/>
        </p:xfrm>
        <a:graphic>
          <a:graphicData uri="http://schemas.openxmlformats.org/drawingml/2006/table">
            <a:tbl>
              <a:tblPr/>
              <a:tblGrid>
                <a:gridCol w="274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기대효과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838"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량</a:t>
                      </a:r>
                      <a:endParaRPr kumimoji="0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38"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90488" marR="0" lvl="0" indent="-90488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90488" indent="-90488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90488" marR="0" lvl="0" indent="-90488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573421"/>
              </p:ext>
            </p:extLst>
          </p:nvPr>
        </p:nvGraphicFramePr>
        <p:xfrm>
          <a:off x="3597216" y="364510"/>
          <a:ext cx="5438834" cy="765622"/>
        </p:xfrm>
        <a:graphic>
          <a:graphicData uri="http://schemas.openxmlformats.org/drawingml/2006/table">
            <a:tbl>
              <a:tblPr firstRow="1" bandRow="1"/>
              <a:tblGrid>
                <a:gridCol w="871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4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1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09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spc="-1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명</a:t>
                      </a:r>
                    </a:p>
                  </a:txBody>
                  <a:tcPr marL="36001" marR="36001" marT="45770" marB="4577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ㅇㅇㅇㅇ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1" marR="36001" marT="45770" marB="4577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GO / Reconsider / Drop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1" marR="36001" marT="45770" marB="4577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15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추진 조직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팀장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(PM)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백만원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" marR="18000" marT="18000" marB="1800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18000" marR="18000" marT="18000" marB="18000" anchor="ctr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0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Water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전장개발팀</a:t>
                      </a: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이영재</a:t>
                      </a: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  <a:ea typeface="Malgun Gothic" panose="020B0503020000020004" pitchFamily="50" charset="-127"/>
                        </a:rPr>
                        <a:t>25.10.20 ~ 26.01.30</a:t>
                      </a:r>
                      <a:endParaRPr lang="ko-KR" altLang="en-US" dirty="0">
                        <a:effectLst/>
                      </a:endParaRPr>
                    </a:p>
                  </a:txBody>
                  <a:tcPr marL="9525" marR="9525" marT="9525" marB="9525">
                    <a:lnL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사각형 설명선 13"/>
          <p:cNvSpPr/>
          <p:nvPr/>
        </p:nvSpPr>
        <p:spPr>
          <a:xfrm>
            <a:off x="-3200400" y="2243733"/>
            <a:ext cx="2909839" cy="1368152"/>
          </a:xfrm>
          <a:prstGeom prst="wedgeRectCallout">
            <a:avLst>
              <a:gd name="adj1" fmla="val 60327"/>
              <a:gd name="adj2" fmla="val -30332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성능 목표의 경우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바로 뒤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7page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‘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평가지표 中 성능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’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 모두 기입되어야 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(*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목표치는 평가지표에서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 ‘B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값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’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으로 설정 해야함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마찬가지로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MC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목표가 있을 경우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바로 뒤</a:t>
            </a: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7Page ‘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평가지표 中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MC’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기입되어야함</a:t>
            </a: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(*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목표치는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‘B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값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’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으로 설정 해야함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 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5" name="사각형 설명선 14"/>
          <p:cNvSpPr/>
          <p:nvPr/>
        </p:nvSpPr>
        <p:spPr>
          <a:xfrm>
            <a:off x="-3200401" y="4221087"/>
            <a:ext cx="2909839" cy="855737"/>
          </a:xfrm>
          <a:prstGeom prst="wedgeRectCallout">
            <a:avLst>
              <a:gd name="adj1" fmla="val 60441"/>
              <a:gd name="adj2" fmla="val 17073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일정 목표의 경우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바로 뒤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7page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‘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평가지표 中 일정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’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 모두 같은 일자로</a:t>
            </a:r>
            <a:endParaRPr kumimoji="0" lang="en-US" altLang="ko-KR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반영되어야 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(R1,R2,R3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해당되는 단계에 글씨 색깔 표시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478111" y="-343238"/>
            <a:ext cx="3089127" cy="25717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산학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,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정부 과제일 경우에는 산학 등 표기 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(ex: R1,</a:t>
            </a: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산학</a:t>
            </a:r>
            <a:r>
              <a:rPr kumimoji="0" lang="en-US" altLang="ko-KR" sz="9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</a:rPr>
              <a:t>)</a:t>
            </a:r>
          </a:p>
        </p:txBody>
      </p:sp>
      <p:sp>
        <p:nvSpPr>
          <p:cNvPr id="17" name="굽은 화살표 16"/>
          <p:cNvSpPr/>
          <p:nvPr/>
        </p:nvSpPr>
        <p:spPr>
          <a:xfrm rot="5400000" flipV="1">
            <a:off x="1309157" y="-222855"/>
            <a:ext cx="209550" cy="179010"/>
          </a:xfrm>
          <a:prstGeom prst="bentArrow">
            <a:avLst>
              <a:gd name="adj1" fmla="val 25000"/>
              <a:gd name="adj2" fmla="val 25000"/>
              <a:gd name="adj3" fmla="val 50000"/>
              <a:gd name="adj4" fmla="val 43750"/>
            </a:avLst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085022"/>
              </p:ext>
            </p:extLst>
          </p:nvPr>
        </p:nvGraphicFramePr>
        <p:xfrm>
          <a:off x="120650" y="366874"/>
          <a:ext cx="3459207" cy="630250"/>
        </p:xfrm>
        <a:graphic>
          <a:graphicData uri="http://schemas.openxmlformats.org/drawingml/2006/table">
            <a:tbl>
              <a:tblPr/>
              <a:tblGrid>
                <a:gridCol w="14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679841710"/>
                    </a:ext>
                  </a:extLst>
                </a:gridCol>
                <a:gridCol w="164363">
                  <a:extLst>
                    <a:ext uri="{9D8B030D-6E8A-4147-A177-3AD203B41FA5}">
                      <a16:colId xmlns:a16="http://schemas.microsoft.com/office/drawing/2014/main" val="3839448782"/>
                    </a:ext>
                  </a:extLst>
                </a:gridCol>
                <a:gridCol w="431062">
                  <a:extLst>
                    <a:ext uri="{9D8B030D-6E8A-4147-A177-3AD203B41FA5}">
                      <a16:colId xmlns:a16="http://schemas.microsoft.com/office/drawing/2014/main" val="4248337531"/>
                    </a:ext>
                  </a:extLst>
                </a:gridCol>
                <a:gridCol w="595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3690">
                  <a:extLst>
                    <a:ext uri="{9D8B030D-6E8A-4147-A177-3AD203B41FA5}">
                      <a16:colId xmlns:a16="http://schemas.microsoft.com/office/drawing/2014/main" val="3745885392"/>
                    </a:ext>
                  </a:extLst>
                </a:gridCol>
                <a:gridCol w="653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0508">
                <a:tc grid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등급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>
                      <a:noFill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난이도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시급성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중요도</a:t>
                      </a: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[R2] </a:t>
                      </a:r>
                      <a:r>
                        <a:rPr kumimoji="0" lang="ko-KR" altLang="en-US" sz="14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기술과제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계획서</a:t>
                      </a: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6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" marR="7200" marT="7200" marB="7200" horzOverflow="overflow">
                    <a:lnL>
                      <a:noFill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711">
                <a:tc rowSpan="2"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anchor="ctr" horzOverflow="overflow">
                    <a:lnL>
                      <a:noFill/>
                    </a:lnL>
                    <a:lnR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1800" kern="12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endParaRPr kumimoji="0" lang="en-US" altLang="ko-KR" sz="800" b="0" i="0" u="none" strike="noStrike" cap="none" spc="-10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공효진 수석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강하늘 책임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남궁민 선임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박은빈</a:t>
                      </a: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선임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7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800" b="0" i="0" u="none" strike="noStrike" cap="none" spc="-10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R&amp;R</a:t>
                      </a:r>
                    </a:p>
                  </a:txBody>
                  <a:tcPr marL="7200" marR="7200" marT="7200" marB="7200" horzOverflow="overflow">
                    <a:lnL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기구개발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필터개발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조사기획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필드테스트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7200" marB="7200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사각형 설명선 19"/>
          <p:cNvSpPr/>
          <p:nvPr/>
        </p:nvSpPr>
        <p:spPr>
          <a:xfrm>
            <a:off x="-3200400" y="725263"/>
            <a:ext cx="2909839" cy="1368152"/>
          </a:xfrm>
          <a:prstGeom prst="wedgeRectCallout">
            <a:avLst>
              <a:gd name="adj1" fmla="val 64774"/>
              <a:gd name="adj2" fmla="val -70685"/>
            </a:avLst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개발 등급은 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직속팀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자체 기준 및 자체 </a:t>
            </a:r>
            <a:r>
              <a:rPr kumimoji="0" lang="ko-KR" altLang="en-US" sz="1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판단하에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결정하여 입력하십시오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kern="0" dirty="0">
              <a:solidFill>
                <a:prstClr val="black"/>
              </a:solidFill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난이도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시급성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중요도는 기술전략팀에서 판단하여 결정합니다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.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7561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24675"/>
              </p:ext>
            </p:extLst>
          </p:nvPr>
        </p:nvGraphicFramePr>
        <p:xfrm>
          <a:off x="120650" y="765938"/>
          <a:ext cx="8915839" cy="1281834"/>
        </p:xfrm>
        <a:graphic>
          <a:graphicData uri="http://schemas.openxmlformats.org/drawingml/2006/table">
            <a:tbl>
              <a:tblPr firstRow="1" bandRow="1"/>
              <a:tblGrid>
                <a:gridCol w="264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5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41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94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4558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641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6948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694286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247074">
                <a:tc gridSpan="16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과제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지표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1000" b="1" i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05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978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1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" marR="36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완료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03/07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10~30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일단축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10~30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일단축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10~30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일단축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1~20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일지연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1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완료보고서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91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913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18000" marB="1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00451"/>
              </p:ext>
            </p:extLst>
          </p:nvPr>
        </p:nvGraphicFramePr>
        <p:xfrm>
          <a:off x="120650" y="3363018"/>
          <a:ext cx="8949724" cy="2973942"/>
        </p:xfrm>
        <a:graphic>
          <a:graphicData uri="http://schemas.openxmlformats.org/drawingml/2006/table">
            <a:tbl>
              <a:tblPr firstRow="1" bandRow="1"/>
              <a:tblGrid>
                <a:gridCol w="2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8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89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79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89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79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98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898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3796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24940">
                <a:tc gridSpan="16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기술 과제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평가 지표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_</a:t>
                      </a:r>
                      <a:r>
                        <a:rPr kumimoji="0" lang="ko-KR" altLang="en-US" sz="10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성능</a:t>
                      </a:r>
                    </a:p>
                  </a:txBody>
                  <a:tcPr marL="91435" marR="91435" marT="45711" marB="4571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58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</a:t>
                      </a:r>
                      <a:r>
                        <a:rPr lang="en-US" altLang="ko-KR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Spec.)</a:t>
                      </a:r>
                      <a:endParaRPr lang="ko-KR" altLang="en-US" sz="9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3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↑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목표↓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23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923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</a:t>
                      </a: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" marR="72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28209"/>
              </p:ext>
            </p:extLst>
          </p:nvPr>
        </p:nvGraphicFramePr>
        <p:xfrm>
          <a:off x="120650" y="2063554"/>
          <a:ext cx="8915840" cy="1282741"/>
        </p:xfrm>
        <a:graphic>
          <a:graphicData uri="http://schemas.openxmlformats.org/drawingml/2006/table">
            <a:tbl>
              <a:tblPr firstRow="1" bandRow="1"/>
              <a:tblGrid>
                <a:gridCol w="24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6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64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82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1564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28556">
                <a:tc gridSpan="1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과제</a:t>
                      </a:r>
                      <a:r>
                        <a:rPr lang="en-US" altLang="ko-KR" sz="1000" b="1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지표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en-US" altLang="ko-KR" sz="1000" b="1" i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M/C</a:t>
                      </a:r>
                      <a:endParaRPr lang="ko-KR" altLang="en-US" sz="1000" b="1" i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marT="45711" marB="4571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bg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19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Task</a:t>
                      </a: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2027</a:t>
                      </a:r>
                      <a:r>
                        <a:rPr lang="ko-KR" altLang="en-US" sz="9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구간치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</a:t>
                      </a:r>
                    </a:p>
                  </a:txBody>
                  <a:tcPr marL="10800" marR="108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" marR="36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10,000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기입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10,000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↓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기입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구간값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산출 근거 기입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" marR="36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" marR="36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" marR="36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858" y="90994"/>
            <a:ext cx="2589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기술 과제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lang="ko-KR" altLang="en-US" b="1" i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29964"/>
              </p:ext>
            </p:extLst>
          </p:nvPr>
        </p:nvGraphicFramePr>
        <p:xfrm>
          <a:off x="120650" y="6341846"/>
          <a:ext cx="8915844" cy="229920"/>
        </p:xfrm>
        <a:graphic>
          <a:graphicData uri="http://schemas.openxmlformats.org/drawingml/2006/table">
            <a:tbl>
              <a:tblPr firstRow="1" bandRow="1"/>
              <a:tblGrid>
                <a:gridCol w="8915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l" latinLnBrk="1"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*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지표 산정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Guide :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앞장의 선행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PJT 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지표 산정 </a:t>
                      </a: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Guide</a:t>
                      </a: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동일함</a:t>
                      </a:r>
                    </a:p>
                  </a:txBody>
                  <a:tcPr marL="10800" marR="10800" marT="54000" marB="54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977133"/>
              </p:ext>
            </p:extLst>
          </p:nvPr>
        </p:nvGraphicFramePr>
        <p:xfrm>
          <a:off x="5895061" y="416123"/>
          <a:ext cx="3136760" cy="315840"/>
        </p:xfrm>
        <a:graphic>
          <a:graphicData uri="http://schemas.openxmlformats.org/drawingml/2006/table">
            <a:tbl>
              <a:tblPr firstRow="1" bandRow="1"/>
              <a:tblGrid>
                <a:gridCol w="5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0527">
                  <a:extLst>
                    <a:ext uri="{9D8B030D-6E8A-4147-A177-3AD203B41FA5}">
                      <a16:colId xmlns:a16="http://schemas.microsoft.com/office/drawing/2014/main" val="3786461996"/>
                    </a:ext>
                  </a:extLst>
                </a:gridCol>
                <a:gridCol w="520527">
                  <a:extLst>
                    <a:ext uri="{9D8B030D-6E8A-4147-A177-3AD203B41FA5}">
                      <a16:colId xmlns:a16="http://schemas.microsoft.com/office/drawing/2014/main" val="2119126921"/>
                    </a:ext>
                  </a:extLst>
                </a:gridCol>
              </a:tblGrid>
              <a:tr h="10713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가중치</a:t>
                      </a:r>
                      <a:endParaRPr lang="en-US" altLang="ko-KR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비중</a:t>
                      </a:r>
                      <a:r>
                        <a:rPr lang="en-US" altLang="ko-KR" sz="8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M/C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성능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ko-KR" altLang="en-US" sz="800" b="1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실장평가</a:t>
                      </a:r>
                      <a:endParaRPr lang="ko-KR" altLang="en-US" sz="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CTO</a:t>
                      </a:r>
                      <a:r>
                        <a:rPr lang="ko-KR" altLang="en-US" sz="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평가</a:t>
                      </a: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6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30%</a:t>
                      </a:r>
                      <a:endParaRPr lang="ko-KR" altLang="en-US" sz="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" marR="10800" marT="18000" marB="18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오른쪽 화살표 9"/>
          <p:cNvSpPr/>
          <p:nvPr/>
        </p:nvSpPr>
        <p:spPr>
          <a:xfrm>
            <a:off x="-584523" y="846151"/>
            <a:ext cx="476003" cy="125399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-584523" y="2130653"/>
            <a:ext cx="476003" cy="125399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2" name="오른쪽 화살표 11"/>
          <p:cNvSpPr/>
          <p:nvPr/>
        </p:nvSpPr>
        <p:spPr>
          <a:xfrm>
            <a:off x="-584523" y="3501008"/>
            <a:ext cx="476003" cy="125399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-1549076" y="813460"/>
            <a:ext cx="1277708" cy="50405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종료 예정 연도까지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노란 색 칸 표시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-1549076" y="2044836"/>
            <a:ext cx="1277708" cy="50405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종료 예정 연도까지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노란 색 칸 표시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-1549076" y="3406565"/>
            <a:ext cx="1277708" cy="50405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종료 예정 연도까지</a:t>
            </a:r>
            <a:endParaRPr kumimoji="0" lang="en-US" altLang="ko-KR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노란 색 칸 표시</a:t>
            </a:r>
          </a:p>
        </p:txBody>
      </p:sp>
      <p:sp>
        <p:nvSpPr>
          <p:cNvPr id="16" name="오른쪽 화살표 15"/>
          <p:cNvSpPr/>
          <p:nvPr/>
        </p:nvSpPr>
        <p:spPr>
          <a:xfrm rot="5400000">
            <a:off x="6341856" y="-359448"/>
            <a:ext cx="476003" cy="125399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257801" y="-708242"/>
            <a:ext cx="3256204" cy="50405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과제 등급 및 지표 수치에</a:t>
            </a:r>
            <a:r>
              <a:rPr kumimoji="0" lang="ko-KR" altLang="en-US" sz="1000" b="1" i="0" u="none" strike="noStrike" kern="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맞춰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가중치가 부여됩니다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 평가 지표 참조</a:t>
            </a:r>
            <a:r>
              <a:rPr lang="en-US" altLang="ko-KR" sz="10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243963" y="-204186"/>
            <a:ext cx="3852912" cy="7471761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작성 전 필독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&lt;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 작성 관련 안내사항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M/C,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성능에 대해 평가를 진행하며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과제계획서 지표를 기준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12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PJT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 심의회 시 </a:t>
            </a:r>
            <a:b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실적에 대한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를 받게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정량평가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비율은 위 표와 같으며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산학과제 등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PJT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성격상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MC,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성능 지표가 없을 경우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정성평가로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합산됩니다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평가지표 中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‘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지표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가장 위 항목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각 단계의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계획 단계를 제외한 모든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TASK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를 입력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-. R2: M/U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TR2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-. R3: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평가승인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적용완료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-. R1: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기술검토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TR1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평가보고회시 완료 되지 않은 과제는 중간 단계 결과로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평가지표 中 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‘M/C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지표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중간 항목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: MC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 대한 수치를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A,B,C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단계에 모두 필히 입력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Summary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장표에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기입하신 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MC 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목표치는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‘B’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으로 설정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값을 기준으로 같은 가중치를 주어 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A,B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값을 필히 모두 기입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해주셔야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-  A: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대비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정량 표기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),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C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단계는 목표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(B)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항목 수치에 대한 초과 금액으로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화살표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표시로 남겨두셔도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3)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평가지표 中 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성능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지표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가장 아래 항목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성능 지표는 </a:t>
            </a:r>
            <a:r>
              <a:rPr kumimoji="0" lang="en-US" altLang="ko-KR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Summury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4Page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 쓰신 항목들은 모두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포함 되어야하며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관련된 평가를 받고 싶은 항목을 기입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항목별 목표치는 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‘B’ 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값으로 설정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B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값을 기준으로 같은 가중치를 주어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kumimoji="0" lang="en-US" altLang="ko-KR" sz="10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A,B</a:t>
            </a:r>
            <a:r>
              <a:rPr kumimoji="0" lang="ko-KR" altLang="en-US" sz="10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값을 필히 모두 기입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해주셔야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   -  A: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대비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20%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초과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정량 표기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목표가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O/X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항목 값일 경우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O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B, X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는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 설정해야</a:t>
            </a:r>
            <a:r>
              <a:rPr kumimoji="0" lang="ko-KR" altLang="en-US" sz="10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28550"/>
              </p:ext>
            </p:extLst>
          </p:nvPr>
        </p:nvGraphicFramePr>
        <p:xfrm>
          <a:off x="9267652" y="647799"/>
          <a:ext cx="382922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453">
                  <a:extLst>
                    <a:ext uri="{9D8B030D-6E8A-4147-A177-3AD203B41FA5}">
                      <a16:colId xmlns:a16="http://schemas.microsoft.com/office/drawing/2014/main" val="1324088217"/>
                    </a:ext>
                  </a:extLst>
                </a:gridCol>
                <a:gridCol w="758200">
                  <a:extLst>
                    <a:ext uri="{9D8B030D-6E8A-4147-A177-3AD203B41FA5}">
                      <a16:colId xmlns:a16="http://schemas.microsoft.com/office/drawing/2014/main" val="1903353479"/>
                    </a:ext>
                  </a:extLst>
                </a:gridCol>
                <a:gridCol w="317696">
                  <a:extLst>
                    <a:ext uri="{9D8B030D-6E8A-4147-A177-3AD203B41FA5}">
                      <a16:colId xmlns:a16="http://schemas.microsoft.com/office/drawing/2014/main" val="3351848788"/>
                    </a:ext>
                  </a:extLst>
                </a:gridCol>
                <a:gridCol w="317696">
                  <a:extLst>
                    <a:ext uri="{9D8B030D-6E8A-4147-A177-3AD203B41FA5}">
                      <a16:colId xmlns:a16="http://schemas.microsoft.com/office/drawing/2014/main" val="1604515552"/>
                    </a:ext>
                  </a:extLst>
                </a:gridCol>
                <a:gridCol w="317696">
                  <a:extLst>
                    <a:ext uri="{9D8B030D-6E8A-4147-A177-3AD203B41FA5}">
                      <a16:colId xmlns:a16="http://schemas.microsoft.com/office/drawing/2014/main" val="1372822122"/>
                    </a:ext>
                  </a:extLst>
                </a:gridCol>
                <a:gridCol w="317696">
                  <a:extLst>
                    <a:ext uri="{9D8B030D-6E8A-4147-A177-3AD203B41FA5}">
                      <a16:colId xmlns:a16="http://schemas.microsoft.com/office/drawing/2014/main" val="2421362567"/>
                    </a:ext>
                  </a:extLst>
                </a:gridCol>
                <a:gridCol w="317696">
                  <a:extLst>
                    <a:ext uri="{9D8B030D-6E8A-4147-A177-3AD203B41FA5}">
                      <a16:colId xmlns:a16="http://schemas.microsoft.com/office/drawing/2014/main" val="440347094"/>
                    </a:ext>
                  </a:extLst>
                </a:gridCol>
                <a:gridCol w="971089">
                  <a:extLst>
                    <a:ext uri="{9D8B030D-6E8A-4147-A177-3AD203B41FA5}">
                      <a16:colId xmlns:a16="http://schemas.microsoft.com/office/drawing/2014/main" val="4101982693"/>
                    </a:ext>
                  </a:extLst>
                </a:gridCol>
              </a:tblGrid>
              <a:tr h="127418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  <a:endParaRPr lang="en-US" altLang="ko-KR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</a:t>
                      </a:r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지표</a:t>
                      </a:r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정량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771697"/>
                  </a:ext>
                </a:extLst>
              </a:tr>
              <a:tr h="137164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MC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실장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CTO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427684"/>
                  </a:ext>
                </a:extLst>
              </a:tr>
              <a:tr h="1371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원가혁신</a:t>
                      </a: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30%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 비중을 기본으로 하되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중요도에 따른 비중 조정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과제계획서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검토 단계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기술전략팀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과제 성격 별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탄력적</a:t>
                      </a:r>
                      <a:r>
                        <a:rPr lang="ko-KR" altLang="en-US" sz="800" b="1" baseline="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평가 비중 운영</a:t>
                      </a:r>
                      <a:endParaRPr lang="en-US" altLang="ko-KR" sz="800" b="1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정량</a:t>
                      </a:r>
                      <a:r>
                        <a:rPr lang="en-US" altLang="ko-KR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정성 평가 비율 변경 </a:t>
                      </a:r>
                      <a:r>
                        <a:rPr lang="en-US" altLang="ko-KR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(40:60 </a:t>
                      </a:r>
                      <a:r>
                        <a:rPr lang="ko-KR" altLang="en-US" sz="800" b="1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en-US" altLang="ko-KR" sz="800" b="1" baseline="0" dirty="0">
                          <a:solidFill>
                            <a:srgbClr val="0070C0"/>
                          </a:solidFill>
                          <a:latin typeface="+mn-ea"/>
                          <a:ea typeface="+mn-ea"/>
                        </a:rPr>
                        <a:t>:50</a:t>
                      </a:r>
                      <a:r>
                        <a:rPr lang="en-US" altLang="ko-KR" sz="800" b="1" baseline="0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lang="en-US" altLang="ko-KR" sz="800" b="1" baseline="0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  - CTO 30%, </a:t>
                      </a:r>
                      <a:r>
                        <a:rPr lang="ko-KR" altLang="en-US" sz="800" b="1" baseline="0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실장 </a:t>
                      </a:r>
                      <a:r>
                        <a:rPr lang="en-US" altLang="ko-KR" sz="800" b="1" baseline="0" dirty="0">
                          <a:solidFill>
                            <a:srgbClr val="5D4C41"/>
                          </a:solidFill>
                          <a:latin typeface="+mn-ea"/>
                          <a:ea typeface="+mn-ea"/>
                        </a:rPr>
                        <a:t>20%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521580"/>
                  </a:ext>
                </a:extLst>
              </a:tr>
              <a:tr h="137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Type 1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224519"/>
                  </a:ext>
                </a:extLst>
              </a:tr>
              <a:tr h="13716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Type 2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난이도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시급성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147"/>
                  </a:ext>
                </a:extLst>
              </a:tr>
              <a:tr h="137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난이도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053473"/>
                  </a:ext>
                </a:extLst>
              </a:tr>
              <a:tr h="137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시급성</a:t>
                      </a:r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539987"/>
                  </a:ext>
                </a:extLst>
              </a:tr>
              <a:tr h="13716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Type 3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난이도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309673"/>
                  </a:ext>
                </a:extLst>
              </a:tr>
              <a:tr h="137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시급성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231984"/>
                  </a:ext>
                </a:extLst>
              </a:tr>
              <a:tr h="1371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중요성</a:t>
                      </a: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160675"/>
                  </a:ext>
                </a:extLst>
              </a:tr>
              <a:tr h="1371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Type 4</a:t>
                      </a:r>
                      <a:endParaRPr lang="ko-KR" altLang="en-US" sz="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15%</a:t>
                      </a:r>
                      <a:endParaRPr lang="ko-KR" altLang="en-US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rgbClr val="5D4C4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D4C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347530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10526441" y="1065487"/>
            <a:ext cx="945033" cy="192927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/>
              <a:ea typeface="나눔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02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3" name="제목 3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353254"/>
              </p:ext>
            </p:extLst>
          </p:nvPr>
        </p:nvGraphicFramePr>
        <p:xfrm>
          <a:off x="202183" y="836712"/>
          <a:ext cx="8843839" cy="5699760"/>
        </p:xfrm>
        <a:graphic>
          <a:graphicData uri="http://schemas.openxmlformats.org/drawingml/2006/table">
            <a:tbl>
              <a:tblPr firstRow="1" bandRow="1"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0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14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45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297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생략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생략 사유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97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</a:t>
                      </a:r>
                      <a:r>
                        <a:rPr lang="ko-KR" altLang="en-US" sz="11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과제 계획서 및 평가 지표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2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0-1.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과제 계획서 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(Summary)</a:t>
                      </a:r>
                      <a:endParaRPr lang="ko-KR" altLang="en-US" sz="11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9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0-2.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과제 평가 지표 </a:t>
                      </a:r>
                    </a:p>
                  </a:txBody>
                  <a:tcPr marL="91435" marR="91435" anchor="ctr">
                    <a:lnL w="3175" cap="flat" cmpd="sng" algn="ctr">
                      <a:solidFill>
                        <a:sysClr val="window" lastClr="FFFFFF">
                          <a:lumMod val="9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297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lang="ko-KR" altLang="en-US" sz="11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배경 및 동향 분석</a:t>
                      </a:r>
                      <a:endParaRPr lang="en-US" altLang="ko-KR" sz="11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297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1-1.</a:t>
                      </a:r>
                      <a:r>
                        <a:rPr lang="en-US" altLang="ko-KR" sz="11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기술개발 배경</a:t>
                      </a:r>
                      <a:endParaRPr lang="ko-KR" altLang="en-US" sz="11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동향 분석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1-2-1.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환경분석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국내외 시장 규모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법규 등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1-2-2.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국내외 기술 개발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1-2-3.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경쟁사 기술 동향 및 차이 분석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기술 보유 및 적용 현황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1-2-4.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특허 분석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범용 개발품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297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Concept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수립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29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VOC 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유관부서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수집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Concept</a:t>
                      </a:r>
                      <a:endParaRPr lang="ko-KR" altLang="en-US" sz="11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297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목표 수립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29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3-1.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목표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3-2.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확보 시 기대 효과 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정성 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정량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297">
                <a:tc grid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추진 전략 </a:t>
                      </a:r>
                      <a:r>
                        <a:rPr lang="en-US" altLang="ko-KR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방안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29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방안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생략 사유 작성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4-2.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문제점 및 대책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생략 사유 작성</a:t>
                      </a: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4-3.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인력 운영 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공수 포함</a:t>
                      </a: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92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r>
                        <a:rPr lang="en-US" altLang="ko-KR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4-4. </a:t>
                      </a:r>
                      <a:r>
                        <a:rPr lang="ko-KR" altLang="en-US" sz="11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 투자 비용</a:t>
                      </a:r>
                    </a:p>
                  </a:txBody>
                  <a:tcPr marL="91435" marR="9143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504D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>
                        <a:spcAft>
                          <a:spcPts val="2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>
                        <a:spcAft>
                          <a:spcPts val="200"/>
                        </a:spcAft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5" marR="91435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9272537" y="1196752"/>
            <a:ext cx="3639129" cy="1872208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작성 전 필독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&lt;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기술과제계획서 작성 시 안내사항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-. 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  <a:r>
              <a:rPr kumimoji="0" lang="en-US" altLang="ko-KR" sz="1000" b="1" i="0" u="sng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표시된 </a:t>
            </a:r>
            <a:r>
              <a:rPr kumimoji="0" lang="ko-KR" altLang="en-US" sz="1000" b="1" i="0" u="sng" strike="noStrike" kern="0" cap="none" spc="0" normalizeH="0" baseline="0" noProof="0" dirty="0" err="1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장표는</a:t>
            </a:r>
            <a:r>
              <a:rPr kumimoji="0" lang="ko-KR" alt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모두 작성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해주셔야 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-.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필수가 아닌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장표는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자유롭게 작성해주시면 되며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시 생략사유만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한줄로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간단히 기입해주시면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 (*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생략한 항목의 경우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뒤에 양식은 삭제해주시면 됩니다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292325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182AE8-2110-3899-0F4B-94705F04F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249733"/>
              </p:ext>
            </p:extLst>
          </p:nvPr>
        </p:nvGraphicFramePr>
        <p:xfrm>
          <a:off x="157077" y="2717255"/>
          <a:ext cx="8829844" cy="3764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4922">
                  <a:extLst>
                    <a:ext uri="{9D8B030D-6E8A-4147-A177-3AD203B41FA5}">
                      <a16:colId xmlns:a16="http://schemas.microsoft.com/office/drawing/2014/main" val="2646214116"/>
                    </a:ext>
                  </a:extLst>
                </a:gridCol>
                <a:gridCol w="4414922">
                  <a:extLst>
                    <a:ext uri="{9D8B030D-6E8A-4147-A177-3AD203B41FA5}">
                      <a16:colId xmlns:a16="http://schemas.microsoft.com/office/drawing/2014/main" val="332724775"/>
                    </a:ext>
                  </a:extLst>
                </a:gridCol>
              </a:tblGrid>
              <a:tr h="2009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시스템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이상적인 시스템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080919"/>
                  </a:ext>
                </a:extLst>
              </a:tr>
              <a:tr h="2499527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79103"/>
                  </a:ext>
                </a:extLst>
              </a:tr>
              <a:tr h="732431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및 히터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개체별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특성 차이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 센싱 단일 회로의 한계점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algn="l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조건에 따라 히터 전력 체크 오차 발생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è"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온도 스윙 발생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온수 온도 편차 발생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±5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℃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85750" indent="-285750" algn="l" latinLnBrk="1">
                        <a:buFont typeface="Wingdings" panose="05000000000000000000" pitchFamily="2" charset="2"/>
                        <a:buChar char="è"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제품별 제어 표준화 어려움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817400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B91EFB3-F5BD-F885-6B73-4D5180A25E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6"/>
          <a:stretch/>
        </p:blipFill>
        <p:spPr bwMode="auto">
          <a:xfrm>
            <a:off x="4651818" y="3183726"/>
            <a:ext cx="4198551" cy="219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595" y="771896"/>
            <a:ext cx="8286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온수 제어 표준화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온수 시스템 고도화 선행 필요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BEDF88-568B-AB86-8656-020D9DDD8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5" y="3119583"/>
            <a:ext cx="3822067" cy="2325850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33DBE207-C33B-2887-2AD6-E5C8EEF53C25}"/>
              </a:ext>
            </a:extLst>
          </p:cNvPr>
          <p:cNvCxnSpPr>
            <a:cxnSpLocks/>
          </p:cNvCxnSpPr>
          <p:nvPr/>
        </p:nvCxnSpPr>
        <p:spPr>
          <a:xfrm flipH="1">
            <a:off x="6281735" y="3385628"/>
            <a:ext cx="347624" cy="2000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71ECECE-80D1-F0F4-546F-17A9586D18EE}"/>
              </a:ext>
            </a:extLst>
          </p:cNvPr>
          <p:cNvSpPr txBox="1"/>
          <p:nvPr/>
        </p:nvSpPr>
        <p:spPr>
          <a:xfrm>
            <a:off x="6629359" y="3185573"/>
            <a:ext cx="178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/>
              <a:t>첫잔</a:t>
            </a:r>
            <a:r>
              <a:rPr lang="ko-KR" altLang="en-US" sz="1000" b="1" dirty="0"/>
              <a:t> 온도 만족을 위해</a:t>
            </a:r>
            <a:endParaRPr lang="en-US" altLang="ko-KR" sz="1000" b="1" dirty="0"/>
          </a:p>
          <a:p>
            <a:r>
              <a:rPr lang="en-US" altLang="ko-KR" sz="1000" b="1" dirty="0"/>
              <a:t>Overshoot</a:t>
            </a:r>
            <a:r>
              <a:rPr lang="ko-KR" altLang="en-US" sz="1000" b="1" dirty="0"/>
              <a:t>은 필요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F35941-0AE0-D856-1BBF-B02CF6B329B2}"/>
              </a:ext>
            </a:extLst>
          </p:cNvPr>
          <p:cNvSpPr txBox="1"/>
          <p:nvPr/>
        </p:nvSpPr>
        <p:spPr>
          <a:xfrm>
            <a:off x="1392769" y="4327041"/>
            <a:ext cx="2603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온도 스윙 존재</a:t>
            </a:r>
            <a:endParaRPr lang="en-US" altLang="ko-KR" sz="1000" b="1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스윙 폭에 따라 온수 온도 편차 발생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C5C6F62-F848-FB05-3E6D-B2DF710BD3D9}"/>
              </a:ext>
            </a:extLst>
          </p:cNvPr>
          <p:cNvCxnSpPr>
            <a:cxnSpLocks/>
          </p:cNvCxnSpPr>
          <p:nvPr/>
        </p:nvCxnSpPr>
        <p:spPr>
          <a:xfrm flipV="1">
            <a:off x="2694486" y="4030926"/>
            <a:ext cx="0" cy="2515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3A237235-0EB6-89E5-BE1C-9F72450BFBBC}"/>
              </a:ext>
            </a:extLst>
          </p:cNvPr>
          <p:cNvSpPr/>
          <p:nvPr/>
        </p:nvSpPr>
        <p:spPr>
          <a:xfrm>
            <a:off x="4376485" y="1346118"/>
            <a:ext cx="391027" cy="36696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EA5693-FA9A-C08A-EEAA-3D429566A5A0}"/>
              </a:ext>
            </a:extLst>
          </p:cNvPr>
          <p:cNvSpPr txBox="1"/>
          <p:nvPr/>
        </p:nvSpPr>
        <p:spPr>
          <a:xfrm>
            <a:off x="6973104" y="4462798"/>
            <a:ext cx="1168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온도 스윙 최소화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836952B-1512-FF72-7938-FC657B41F348}"/>
              </a:ext>
            </a:extLst>
          </p:cNvPr>
          <p:cNvCxnSpPr>
            <a:cxnSpLocks/>
          </p:cNvCxnSpPr>
          <p:nvPr/>
        </p:nvCxnSpPr>
        <p:spPr>
          <a:xfrm flipV="1">
            <a:off x="7557393" y="4128213"/>
            <a:ext cx="0" cy="252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040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30B61931-451E-3EEE-A8E6-B63C79D1C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879630"/>
              </p:ext>
            </p:extLst>
          </p:nvPr>
        </p:nvGraphicFramePr>
        <p:xfrm>
          <a:off x="6100016" y="1481209"/>
          <a:ext cx="2940276" cy="429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0276">
                  <a:extLst>
                    <a:ext uri="{9D8B030D-6E8A-4147-A177-3AD203B41FA5}">
                      <a16:colId xmlns:a16="http://schemas.microsoft.com/office/drawing/2014/main" val="1467866532"/>
                    </a:ext>
                  </a:extLst>
                </a:gridCol>
              </a:tblGrid>
              <a:tr h="2457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히터 모듈화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 표준제어 고도화 필요성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97304"/>
                  </a:ext>
                </a:extLst>
              </a:tr>
              <a:tr h="40462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04680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96EEE25-3AFC-B99A-D2CB-C93B1CBBD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48869"/>
              </p:ext>
            </p:extLst>
          </p:nvPr>
        </p:nvGraphicFramePr>
        <p:xfrm>
          <a:off x="78579" y="1475599"/>
          <a:ext cx="380848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487">
                  <a:extLst>
                    <a:ext uri="{9D8B030D-6E8A-4147-A177-3AD203B41FA5}">
                      <a16:colId xmlns:a16="http://schemas.microsoft.com/office/drawing/2014/main" val="1467866532"/>
                    </a:ext>
                  </a:extLst>
                </a:gridCol>
              </a:tblGrid>
              <a:tr h="2432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기존 온수 시스템의 잦은 튜닝 발생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597304"/>
                  </a:ext>
                </a:extLst>
              </a:tr>
              <a:tr h="2853202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ko-KR" altLang="en-US" sz="10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04680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히터 모듈화 및 표준제어 고도화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0E11F4-1E15-3B7B-BDF6-F11414FCC2C2}"/>
              </a:ext>
            </a:extLst>
          </p:cNvPr>
          <p:cNvSpPr txBox="1"/>
          <p:nvPr/>
        </p:nvSpPr>
        <p:spPr>
          <a:xfrm>
            <a:off x="78582" y="1855769"/>
            <a:ext cx="380847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제품간 온수유로 구조 차이 발생</a:t>
            </a: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온도센서 ↔ </a:t>
            </a:r>
            <a:r>
              <a:rPr lang="ko-KR" altLang="en-US" sz="10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출수구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유로 길이 차이</a:t>
            </a: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유량센서 등 관련 부하 변경                </a:t>
            </a: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전류 센싱 단일 회로 </a:t>
            </a: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히터 특성 편차</a:t>
            </a: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전압 센싱 회로 추가 시 비용 및 공간 제한</a:t>
            </a: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전력체크 제어 고도화 필요성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승온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열량 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전류 매핑 등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제품별 배수라인 유무 상이함</a:t>
            </a: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제품별 히터 릴레이 </a:t>
            </a: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트라이악 비율 상이함</a:t>
            </a:r>
            <a:r>
              <a:rPr lang="en-US" altLang="ko-K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릴레이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(1500w)&gt;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트라이악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(1200w)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 경우 </a:t>
            </a:r>
            <a:r>
              <a:rPr lang="ko-KR" altLang="en-US" sz="100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사이값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제어 불가</a:t>
            </a: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릴레이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(1200w)&lt;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트라이악</a:t>
            </a:r>
            <a:r>
              <a:rPr lang="en-US" altLang="ko-KR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(1500w) </a:t>
            </a:r>
            <a:r>
              <a:rPr lang="ko-KR" altLang="en-US" sz="10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통일 필요</a:t>
            </a:r>
            <a:endParaRPr lang="en-US" altLang="ko-KR" sz="10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29E06709-B72C-827C-F0D1-26738A101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01" y="2081792"/>
            <a:ext cx="2747488" cy="1372888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5A6BACB-73C6-DEBC-AA49-7E50D930D234}"/>
              </a:ext>
            </a:extLst>
          </p:cNvPr>
          <p:cNvSpPr/>
          <p:nvPr/>
        </p:nvSpPr>
        <p:spPr>
          <a:xfrm>
            <a:off x="3988905" y="2357600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유로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구조별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히팅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차이 발생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833704-4872-3C99-31CB-D330B5C4CFA4}"/>
              </a:ext>
            </a:extLst>
          </p:cNvPr>
          <p:cNvSpPr/>
          <p:nvPr/>
        </p:nvSpPr>
        <p:spPr>
          <a:xfrm>
            <a:off x="3988906" y="2819834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출수 ↔ 히터 온도 차이 발생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FCB1886-48DE-49A8-EE4E-92B1460B941B}"/>
              </a:ext>
            </a:extLst>
          </p:cNvPr>
          <p:cNvSpPr/>
          <p:nvPr/>
        </p:nvSpPr>
        <p:spPr>
          <a:xfrm>
            <a:off x="3988910" y="3282068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부하 종류에 따른 제어 영향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A2F6012-4E0C-A68D-17DE-AF54529B6BB5}"/>
              </a:ext>
            </a:extLst>
          </p:cNvPr>
          <p:cNvSpPr/>
          <p:nvPr/>
        </p:nvSpPr>
        <p:spPr>
          <a:xfrm>
            <a:off x="3988909" y="3744302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전력체크 오차 발생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A410D4A-DEC4-8B83-864E-E373B6E64A49}"/>
              </a:ext>
            </a:extLst>
          </p:cNvPr>
          <p:cNvSpPr/>
          <p:nvPr/>
        </p:nvSpPr>
        <p:spPr>
          <a:xfrm>
            <a:off x="3988907" y="4206536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배수 방식에 따른 시스템 차이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89184C-32E1-17A2-F65C-34740CA92205}"/>
              </a:ext>
            </a:extLst>
          </p:cNvPr>
          <p:cNvSpPr/>
          <p:nvPr/>
        </p:nvSpPr>
        <p:spPr>
          <a:xfrm>
            <a:off x="3988905" y="4668770"/>
            <a:ext cx="2009272" cy="36808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히터 비율에 따른 출력 차이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4C98265-1228-7B01-9F8B-B26DC249E995}"/>
              </a:ext>
            </a:extLst>
          </p:cNvPr>
          <p:cNvSpPr/>
          <p:nvPr/>
        </p:nvSpPr>
        <p:spPr>
          <a:xfrm>
            <a:off x="3988900" y="1696425"/>
            <a:ext cx="2009272" cy="409400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61A25A43-07F5-48B3-2482-58BDC7E6C610}"/>
              </a:ext>
            </a:extLst>
          </p:cNvPr>
          <p:cNvSpPr/>
          <p:nvPr/>
        </p:nvSpPr>
        <p:spPr>
          <a:xfrm>
            <a:off x="7374637" y="4788568"/>
            <a:ext cx="391027" cy="27418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9F120A-5222-07C4-CA43-2A74CDCBF0E7}"/>
              </a:ext>
            </a:extLst>
          </p:cNvPr>
          <p:cNvSpPr/>
          <p:nvPr/>
        </p:nvSpPr>
        <p:spPr>
          <a:xfrm>
            <a:off x="6151146" y="5156769"/>
            <a:ext cx="2838007" cy="459555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순간 온수 제어 표준화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8001CE0-C61A-CD8C-CCCB-026220174A83}"/>
              </a:ext>
            </a:extLst>
          </p:cNvPr>
          <p:cNvSpPr/>
          <p:nvPr/>
        </p:nvSpPr>
        <p:spPr>
          <a:xfrm>
            <a:off x="6151148" y="1819865"/>
            <a:ext cx="2838007" cy="287592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kern="12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모듈화</a:t>
            </a:r>
            <a:endParaRPr lang="en-US" altLang="ko-KR" sz="1000" b="1" kern="1200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▶ </a:t>
            </a:r>
            <a:r>
              <a:rPr lang="ko-KR" altLang="en-US" sz="1000" b="1" kern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제품별 구조적 변경 최소화</a:t>
            </a:r>
            <a:endParaRPr lang="en-US" altLang="ko-KR" sz="1000" b="1" kern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b="1" kern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&amp; </a:t>
            </a:r>
            <a:r>
              <a:rPr lang="ko-KR" altLang="en-US" sz="1000" b="1" kern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코드 모듈화로 코드 이식</a:t>
            </a:r>
            <a:r>
              <a:rPr lang="en-US" altLang="ko-KR" sz="1000" b="1" kern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lang="ko-KR" altLang="en-US" sz="1000" b="1" kern="12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보정 시간 단축</a:t>
            </a:r>
            <a:endParaRPr lang="en-US" altLang="ko-KR" sz="1000" b="1" kern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kern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kern="12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표준제어 고도화</a:t>
            </a:r>
            <a:endParaRPr lang="en-US" altLang="ko-KR" sz="1000" b="1" kern="1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kern="120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▶ 히터 전력 체크 오차 최소화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▶ 전압</a:t>
            </a:r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/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유량</a:t>
            </a:r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 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등 조건별 오차 최소화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</a:rPr>
              <a:t>  &amp; 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성능 안정화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튜닝 시스템 </a:t>
            </a: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&amp; SDK 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코드 활용 </a:t>
            </a: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(IoT</a:t>
            </a:r>
            <a:r>
              <a:rPr lang="ko-KR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개발팀</a:t>
            </a:r>
            <a:r>
              <a: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+mn-ea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▶ 튜닝 작업 방식 개선 및 업무 효율 증대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▶ 기존 시스템의 코드 </a:t>
            </a:r>
            <a:r>
              <a:rPr lang="ko-KR" altLang="en-US" sz="1000" b="1" dirty="0" err="1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이식성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+mn-ea"/>
              </a:rPr>
              <a:t> 향상</a:t>
            </a:r>
            <a:endParaRPr lang="en-US" altLang="ko-KR" sz="1000" b="1" dirty="0">
              <a:solidFill>
                <a:srgbClr val="0070C0"/>
              </a:solidFill>
              <a:latin typeface="맑은 고딕" panose="020B0503020000020004" pitchFamily="50" charset="-127"/>
              <a:ea typeface="+mn-ea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93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1-2-1.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동향 분석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환경 분석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42BB0A3-A8BB-9BBB-1AC6-13A6F2AB9B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327" y="1764699"/>
            <a:ext cx="1567298" cy="156729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9C14FA4-A809-9787-91A8-C18750F0FB63}"/>
              </a:ext>
            </a:extLst>
          </p:cNvPr>
          <p:cNvSpPr txBox="1"/>
          <p:nvPr/>
        </p:nvSpPr>
        <p:spPr>
          <a:xfrm>
            <a:off x="777947" y="3357693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제품 사이즈 축소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6DB16A0-ECA4-2013-BA9E-DE67FB3F8149}"/>
              </a:ext>
            </a:extLst>
          </p:cNvPr>
          <p:cNvGrpSpPr/>
          <p:nvPr/>
        </p:nvGrpSpPr>
        <p:grpSpPr>
          <a:xfrm>
            <a:off x="417369" y="1792602"/>
            <a:ext cx="2266869" cy="1567298"/>
            <a:chOff x="5126607" y="1634215"/>
            <a:chExt cx="2266869" cy="1567298"/>
          </a:xfrm>
        </p:grpSpPr>
        <p:pic>
          <p:nvPicPr>
            <p:cNvPr id="25" name="그림 24" descr="클립아트, 디자인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2E3E39F0-7ED1-F2AA-3746-DBDA5CE06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4360" y="2106479"/>
              <a:ext cx="909116" cy="909116"/>
            </a:xfrm>
            <a:prstGeom prst="rect">
              <a:avLst/>
            </a:prstGeom>
          </p:spPr>
        </p:pic>
        <p:pic>
          <p:nvPicPr>
            <p:cNvPr id="36" name="그림 35" descr="블랙, 어둠이(가) 표시된 사진&#10;&#10;AI가 생성한 콘텐츠는 부정확할 수 있습니다.">
              <a:extLst>
                <a:ext uri="{FF2B5EF4-FFF2-40B4-BE49-F238E27FC236}">
                  <a16:creationId xmlns:a16="http://schemas.microsoft.com/office/drawing/2014/main" id="{B8CFEEAD-3AF7-B8DA-EFE9-87FB3A4F4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6607" y="1634215"/>
              <a:ext cx="1567298" cy="1567298"/>
            </a:xfrm>
            <a:prstGeom prst="rect">
              <a:avLst/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566834F-2A82-F39E-9139-BBD6DC2C16DE}"/>
              </a:ext>
            </a:extLst>
          </p:cNvPr>
          <p:cNvSpPr/>
          <p:nvPr/>
        </p:nvSpPr>
        <p:spPr>
          <a:xfrm>
            <a:off x="251520" y="4480482"/>
            <a:ext cx="5445433" cy="13237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시장 트렌드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미니멀한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사이즈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인테리어적 요소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SK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매직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쿠쿠</a:t>
            </a:r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코웨이</a:t>
            </a:r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초소형 정수기</a:t>
            </a:r>
            <a:endParaRPr lang="en-US" altLang="ko-KR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온수 성능에 대한 </a:t>
            </a:r>
            <a:r>
              <a:rPr lang="en-US" altLang="ko-KR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多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더하기 기호 40">
            <a:extLst>
              <a:ext uri="{FF2B5EF4-FFF2-40B4-BE49-F238E27FC236}">
                <a16:creationId xmlns:a16="http://schemas.microsoft.com/office/drawing/2014/main" id="{7218D31B-18C4-36BD-60AB-263112218C68}"/>
              </a:ext>
            </a:extLst>
          </p:cNvPr>
          <p:cNvSpPr/>
          <p:nvPr/>
        </p:nvSpPr>
        <p:spPr>
          <a:xfrm>
            <a:off x="2887033" y="2278174"/>
            <a:ext cx="591739" cy="591739"/>
          </a:xfrm>
          <a:prstGeom prst="mathPl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1BD45A-4D9B-6F46-19B7-2E01E56CB49A}"/>
              </a:ext>
            </a:extLst>
          </p:cNvPr>
          <p:cNvSpPr txBox="1"/>
          <p:nvPr/>
        </p:nvSpPr>
        <p:spPr>
          <a:xfrm>
            <a:off x="6975940" y="3331997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모듈화 적용</a:t>
            </a:r>
            <a:endParaRPr lang="ko-KR" altLang="en-US" dirty="0"/>
          </a:p>
        </p:txBody>
      </p:sp>
      <p:pic>
        <p:nvPicPr>
          <p:cNvPr id="48" name="그림 47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ABF3056-55BE-89AB-3318-60F2AE313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567" y="1787207"/>
            <a:ext cx="1567298" cy="156729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2458209B-72AD-D032-E590-B4DEDD305D09}"/>
              </a:ext>
            </a:extLst>
          </p:cNvPr>
          <p:cNvSpPr txBox="1"/>
          <p:nvPr/>
        </p:nvSpPr>
        <p:spPr>
          <a:xfrm>
            <a:off x="3989237" y="33520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인테리어</a:t>
            </a:r>
            <a:endParaRPr lang="ko-KR" altLang="en-US" dirty="0"/>
          </a:p>
        </p:txBody>
      </p:sp>
      <p:sp>
        <p:nvSpPr>
          <p:cNvPr id="53" name="이등변 삼각형 52">
            <a:extLst>
              <a:ext uri="{FF2B5EF4-FFF2-40B4-BE49-F238E27FC236}">
                <a16:creationId xmlns:a16="http://schemas.microsoft.com/office/drawing/2014/main" id="{4E379972-3CDE-DD29-3839-2BF78B3866E3}"/>
              </a:ext>
            </a:extLst>
          </p:cNvPr>
          <p:cNvSpPr/>
          <p:nvPr/>
        </p:nvSpPr>
        <p:spPr>
          <a:xfrm rot="5400000">
            <a:off x="5097987" y="2477079"/>
            <a:ext cx="2028831" cy="459869"/>
          </a:xfrm>
          <a:prstGeom prst="triangle">
            <a:avLst/>
          </a:prstGeom>
          <a:gradFill flip="none" rotWithShape="1">
            <a:gsLst>
              <a:gs pos="0">
                <a:sysClr val="windowText" lastClr="000000">
                  <a:lumMod val="50000"/>
                  <a:lumOff val="50000"/>
                  <a:tint val="66000"/>
                  <a:satMod val="160000"/>
                </a:sysClr>
              </a:gs>
              <a:gs pos="50000">
                <a:sysClr val="windowText" lastClr="000000">
                  <a:lumMod val="50000"/>
                  <a:lumOff val="50000"/>
                  <a:tint val="44500"/>
                  <a:satMod val="160000"/>
                </a:sysClr>
              </a:gs>
              <a:gs pos="100000">
                <a:sysClr val="windowText" lastClr="000000">
                  <a:lumMod val="50000"/>
                  <a:lumOff val="50000"/>
                  <a:tint val="23500"/>
                  <a:satMod val="160000"/>
                </a:sysClr>
              </a:gs>
            </a:gsLst>
            <a:lin ang="540000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A86355B-05F3-06F0-CBD7-2546FD3BABD5}"/>
              </a:ext>
            </a:extLst>
          </p:cNvPr>
          <p:cNvSpPr/>
          <p:nvPr/>
        </p:nvSpPr>
        <p:spPr>
          <a:xfrm>
            <a:off x="6346293" y="4461158"/>
            <a:ext cx="2651022" cy="13237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온수 모듈화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 적용 호환성 용이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 표준화 및 고도화 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4869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1-2-2.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동향 분석 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국내외 기술 개발 동향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30013" y="967855"/>
            <a:ext cx="4143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삼성 </a:t>
            </a: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비스포크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정수기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A603D6-7029-7B7D-755D-C0D6E9E6BD12}"/>
              </a:ext>
            </a:extLst>
          </p:cNvPr>
          <p:cNvSpPr txBox="1"/>
          <p:nvPr/>
        </p:nvSpPr>
        <p:spPr>
          <a:xfrm>
            <a:off x="1362846" y="4307645"/>
            <a:ext cx="64183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순간온수 모듈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온수 제어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PBA 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실장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밸브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유량센서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온도센서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유량조절 일체화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제품 생산성 향상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&amp; 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관리성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용이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구조적 변경 최소화 및 전용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표준화 용이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-.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사이즈 축소로 모듈 적용 호환성 향상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52812A-3592-176F-A879-F67AB6014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63" y="2062249"/>
            <a:ext cx="3372827" cy="19453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6DB88CE-218C-AF98-5542-E22EB14EC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755378" y="2188087"/>
            <a:ext cx="1945305" cy="169362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0C0703-B01D-B1E2-788A-1CD5A1506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005" y="2062249"/>
            <a:ext cx="1367606" cy="19453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E55C498-8056-B1AD-C660-AC6C1E5D3FC0}"/>
              </a:ext>
            </a:extLst>
          </p:cNvPr>
          <p:cNvSpPr txBox="1"/>
          <p:nvPr/>
        </p:nvSpPr>
        <p:spPr>
          <a:xfrm>
            <a:off x="5731877" y="931157"/>
            <a:ext cx="3233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인터텍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순간온수 모듈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558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1-2-3.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동향 분석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경쟁사 기술 비교 분석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F5BB72-BCF6-3CDB-B921-8F97AE28374A}"/>
              </a:ext>
            </a:extLst>
          </p:cNvPr>
          <p:cNvSpPr txBox="1"/>
          <p:nvPr/>
        </p:nvSpPr>
        <p:spPr>
          <a:xfrm>
            <a:off x="489483" y="997410"/>
            <a:ext cx="4625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290">
              <a:defRPr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</a:rPr>
              <a:t>[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</a:rPr>
              <a:t>삼성 </a:t>
            </a:r>
            <a:r>
              <a:rPr lang="ko-KR" altLang="en-US" sz="1400" b="1" dirty="0" err="1">
                <a:solidFill>
                  <a:prstClr val="black"/>
                </a:solidFill>
                <a:latin typeface="맑은 고딕" panose="020F0502020204030204"/>
              </a:rPr>
              <a:t>비스포크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</a:rPr>
              <a:t>(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</a:rPr>
              <a:t>온수 모듈화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</a:rPr>
              <a:t>) VS </a:t>
            </a:r>
            <a:r>
              <a:rPr lang="ko-KR" altLang="en-US" sz="1400" b="1" dirty="0">
                <a:solidFill>
                  <a:prstClr val="black"/>
                </a:solidFill>
                <a:latin typeface="맑은 고딕" panose="020F0502020204030204"/>
              </a:rPr>
              <a:t>아이콘 온수성능비교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</a:rPr>
              <a:t>]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5F130AB-596C-1F41-A14D-CBFB875DA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420679"/>
              </p:ext>
            </p:extLst>
          </p:nvPr>
        </p:nvGraphicFramePr>
        <p:xfrm>
          <a:off x="165443" y="1451623"/>
          <a:ext cx="8382993" cy="4087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386">
                  <a:extLst>
                    <a:ext uri="{9D8B030D-6E8A-4147-A177-3AD203B41FA5}">
                      <a16:colId xmlns:a16="http://schemas.microsoft.com/office/drawing/2014/main" val="3339570935"/>
                    </a:ext>
                  </a:extLst>
                </a:gridCol>
                <a:gridCol w="698939">
                  <a:extLst>
                    <a:ext uri="{9D8B030D-6E8A-4147-A177-3AD203B41FA5}">
                      <a16:colId xmlns:a16="http://schemas.microsoft.com/office/drawing/2014/main" val="2791739196"/>
                    </a:ext>
                  </a:extLst>
                </a:gridCol>
                <a:gridCol w="1900184">
                  <a:extLst>
                    <a:ext uri="{9D8B030D-6E8A-4147-A177-3AD203B41FA5}">
                      <a16:colId xmlns:a16="http://schemas.microsoft.com/office/drawing/2014/main" val="3270789570"/>
                    </a:ext>
                  </a:extLst>
                </a:gridCol>
                <a:gridCol w="2762061">
                  <a:extLst>
                    <a:ext uri="{9D8B030D-6E8A-4147-A177-3AD203B41FA5}">
                      <a16:colId xmlns:a16="http://schemas.microsoft.com/office/drawing/2014/main" val="363528307"/>
                    </a:ext>
                  </a:extLst>
                </a:gridCol>
                <a:gridCol w="2518423">
                  <a:extLst>
                    <a:ext uri="{9D8B030D-6E8A-4147-A177-3AD203B41FA5}">
                      <a16:colId xmlns:a16="http://schemas.microsoft.com/office/drawing/2014/main" val="3422397429"/>
                    </a:ext>
                  </a:extLst>
                </a:gridCol>
              </a:tblGrid>
              <a:tr h="41888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모델명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삼성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비스포크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AI –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온수 모듈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ICON (CHP-7210N)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091643"/>
                  </a:ext>
                </a:extLst>
              </a:tr>
              <a:tr h="12901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Spec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원통형 세라믹히터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2.7kw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면상발열히터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2.7kw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1386924"/>
                  </a:ext>
                </a:extLst>
              </a:tr>
              <a:tr h="242374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물온도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고온수 온도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77.2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℃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/ 84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℃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/ 82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℃</a:t>
                      </a:r>
                      <a:endParaRPr lang="en-US" altLang="ko-KR" sz="12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81.3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86.1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87.3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℃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188099"/>
                  </a:ext>
                </a:extLst>
              </a:tr>
              <a:tr h="2851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소비전력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2,781W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2,745W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885632"/>
                  </a:ext>
                </a:extLst>
              </a:tr>
              <a:tr h="2423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 이내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첫잔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 이내</a:t>
                      </a:r>
                      <a:endParaRPr lang="pl-PL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951313"/>
                  </a:ext>
                </a:extLst>
              </a:tr>
              <a:tr h="2423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0.51LPM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0.5LPM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이상</a:t>
                      </a:r>
                      <a:endParaRPr lang="pl-PL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316690"/>
                  </a:ext>
                </a:extLst>
              </a:tr>
              <a:tr h="1106739">
                <a:tc gridSpan="5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대기시간과 유량은 유사하나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고온수 온도가 자사대비 낮게 측정됨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85725" indent="-85725" algn="l" latinLnBrk="1">
                        <a:lnSpc>
                          <a:spcPts val="19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타사 또한 추출 시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 튐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 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물 끊김 현상 확인됨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85725" indent="-85725" algn="l" latinLnBrk="1">
                        <a:lnSpc>
                          <a:spcPts val="19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온수 모듈화를 통한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조립성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향상 및 관리 우위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lnSpc>
                          <a:spcPts val="1900"/>
                        </a:lnSpc>
                        <a:buFont typeface="Wingdings" panose="05000000000000000000" pitchFamily="2" charset="2"/>
                        <a:buNone/>
                      </a:pP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ts val="19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→ 온수 시스템 고도화를 통한 성능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품질 우위 점할 필요 있음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426502"/>
                  </a:ext>
                </a:extLst>
              </a:tr>
            </a:tbl>
          </a:graphicData>
        </a:graphic>
      </p:graphicFrame>
      <p:pic>
        <p:nvPicPr>
          <p:cNvPr id="19" name="그림 18">
            <a:extLst>
              <a:ext uri="{FF2B5EF4-FFF2-40B4-BE49-F238E27FC236}">
                <a16:creationId xmlns:a16="http://schemas.microsoft.com/office/drawing/2014/main" id="{9A696533-3FC3-7E8C-7990-4480985FF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68849" y="1867839"/>
            <a:ext cx="904666" cy="10135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4369CF5-3754-D4E6-0A64-4818D5CA1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369" y="1922263"/>
            <a:ext cx="693425" cy="9046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95380BA-C65C-01B7-6892-5E9254653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684976" y="1835927"/>
            <a:ext cx="904668" cy="107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68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1-2-4.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동향 분석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특허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00965"/>
              </p:ext>
            </p:extLst>
          </p:nvPr>
        </p:nvGraphicFramePr>
        <p:xfrm>
          <a:off x="323528" y="1285771"/>
          <a:ext cx="8369921" cy="5286960"/>
        </p:xfrm>
        <a:graphic>
          <a:graphicData uri="http://schemas.openxmlformats.org/drawingml/2006/table">
            <a:tbl>
              <a:tblPr firstRow="1" bandRow="1"/>
              <a:tblGrid>
                <a:gridCol w="9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99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핵심 </a:t>
                      </a:r>
                      <a:r>
                        <a:rPr lang="ko-KR" altLang="en-US" sz="1100" b="1" kern="1200" dirty="0" err="1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기술명</a:t>
                      </a:r>
                      <a:endParaRPr lang="en-US" altLang="ko-KR" sz="11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000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핵심 기술 요약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발명의 명칭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대표 도면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발명의 명칭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전기흡탈착식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연수기 및 그 제어방법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대표 도면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1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출원번호</a:t>
                      </a:r>
                      <a:r>
                        <a:rPr lang="ko-KR" altLang="en-US" sz="8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공개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출원번호</a:t>
                      </a:r>
                      <a:r>
                        <a:rPr lang="ko-KR" altLang="en-US" sz="8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공개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10-2008-0102589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출원일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출원일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출원인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삼성전자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권리 상태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권리 상태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endParaRPr lang="ko-KR" altLang="en-US" sz="8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0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~~~~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~~~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 결과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분석 결과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~~~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지재권</a:t>
                      </a:r>
                      <a:endParaRPr lang="en-US" altLang="ko-KR" sz="1100" b="1" kern="12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확보 전략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CDI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관련 특허 대다수는 전극 제조 및 이를 이용한 모듈구성 관련이 대다수</a:t>
                      </a:r>
                    </a:p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CDI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이용한 연수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정수 제품 구현 시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구성 및 제어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추가적인 요소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전처리필터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등을 통한 특허 회피가 필요함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7" name="그림 6" descr="1.png"/>
          <p:cNvPicPr>
            <a:picLocks noChangeAspect="1"/>
          </p:cNvPicPr>
          <p:nvPr/>
        </p:nvPicPr>
        <p:blipFill>
          <a:blip r:embed="rId2" cstate="print"/>
          <a:srcRect l="5029" b="2477"/>
          <a:stretch>
            <a:fillRect/>
          </a:stretch>
        </p:blipFill>
        <p:spPr>
          <a:xfrm rot="5400000">
            <a:off x="7392722" y="2137456"/>
            <a:ext cx="864096" cy="160899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2217402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2-1. VOC(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유관부서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수집 및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모듈화 및 표준제어 고도화의 필요성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F0D50087-18BD-7EC2-9DE6-58413D3FC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6767"/>
            <a:ext cx="3122600" cy="2720383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4B0CA02-A2A5-893D-2A78-18869D48850F}"/>
              </a:ext>
            </a:extLst>
          </p:cNvPr>
          <p:cNvSpPr txBox="1"/>
          <p:nvPr/>
        </p:nvSpPr>
        <p:spPr>
          <a:xfrm>
            <a:off x="203394" y="4307787"/>
            <a:ext cx="4438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※ </a:t>
            </a:r>
            <a:r>
              <a:rPr lang="ko-KR" altLang="en-US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아이콘 미니 구매고객 만족도 조사보고서</a:t>
            </a:r>
            <a:r>
              <a:rPr lang="en-US" altLang="ko-KR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 (25</a:t>
            </a:r>
            <a:r>
              <a:rPr lang="ko-KR" altLang="en-US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년 </a:t>
            </a:r>
            <a:r>
              <a:rPr lang="en-US" altLang="ko-KR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11</a:t>
            </a:r>
            <a:r>
              <a:rPr lang="ko-KR" altLang="en-US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월</a:t>
            </a:r>
            <a:r>
              <a:rPr lang="en-US" altLang="ko-KR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/</a:t>
            </a:r>
            <a:r>
              <a:rPr lang="ko-KR" altLang="en-US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마케팅본부</a:t>
            </a:r>
            <a:r>
              <a:rPr lang="en-US" altLang="ko-KR" sz="1200" dirty="0">
                <a:latin typeface="netmarble Medium" panose="02020603020101020101" pitchFamily="18" charset="-127"/>
                <a:ea typeface="netmarble Medium" panose="02020603020101020101" pitchFamily="18" charset="-127"/>
              </a:rPr>
              <a:t>)</a:t>
            </a:r>
            <a:endParaRPr lang="ko-KR" altLang="en-US" sz="1200" dirty="0">
              <a:latin typeface="netmarble Medium" panose="02020603020101020101" pitchFamily="18" charset="-127"/>
              <a:ea typeface="netmarble Medium" panose="02020603020101020101" pitchFamily="18" charset="-127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A2883EA-382D-DF0E-D9FC-2B3D7AB5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027" y="1526767"/>
            <a:ext cx="5380312" cy="27203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BE5B93-D6EC-5BB7-A5F1-00D2B3E16BEE}"/>
              </a:ext>
            </a:extLst>
          </p:cNvPr>
          <p:cNvSpPr txBox="1"/>
          <p:nvPr/>
        </p:nvSpPr>
        <p:spPr>
          <a:xfrm>
            <a:off x="1432626" y="5187356"/>
            <a:ext cx="6418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모듈화를 통한 제품 공간 활용 및 호환성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온수제어 고도화를 통한 성능 안정화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269B4DF-4D68-D244-3D7F-A23F3C414A69}"/>
              </a:ext>
            </a:extLst>
          </p:cNvPr>
          <p:cNvSpPr/>
          <p:nvPr/>
        </p:nvSpPr>
        <p:spPr>
          <a:xfrm>
            <a:off x="261218" y="1664748"/>
            <a:ext cx="3122600" cy="33822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326623F-006E-77B3-C06D-3632A6794BEF}"/>
              </a:ext>
            </a:extLst>
          </p:cNvPr>
          <p:cNvSpPr/>
          <p:nvPr/>
        </p:nvSpPr>
        <p:spPr>
          <a:xfrm>
            <a:off x="251520" y="2583547"/>
            <a:ext cx="3122600" cy="47533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A91E88-B56D-D196-2F8E-074FEE2B1C96}"/>
              </a:ext>
            </a:extLst>
          </p:cNvPr>
          <p:cNvSpPr/>
          <p:nvPr/>
        </p:nvSpPr>
        <p:spPr>
          <a:xfrm>
            <a:off x="3487329" y="1745530"/>
            <a:ext cx="5335542" cy="24655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4F49350-EDEF-C009-D1FD-BF9860F61BA2}"/>
              </a:ext>
            </a:extLst>
          </p:cNvPr>
          <p:cNvSpPr/>
          <p:nvPr/>
        </p:nvSpPr>
        <p:spPr>
          <a:xfrm>
            <a:off x="3503658" y="2569218"/>
            <a:ext cx="5335542" cy="475339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3FD92C6-2DA3-8F85-7CBE-29553DC27527}"/>
              </a:ext>
            </a:extLst>
          </p:cNvPr>
          <p:cNvSpPr/>
          <p:nvPr/>
        </p:nvSpPr>
        <p:spPr>
          <a:xfrm>
            <a:off x="3497027" y="4030913"/>
            <a:ext cx="5335542" cy="246555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15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Concept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온수 모듈화 및 표준제어 고도화 설계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97CFA9A-CB74-7592-2BCC-B3EB2A1B1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48734"/>
              </p:ext>
            </p:extLst>
          </p:nvPr>
        </p:nvGraphicFramePr>
        <p:xfrm>
          <a:off x="106849" y="1441345"/>
          <a:ext cx="8910819" cy="4679621"/>
        </p:xfrm>
        <a:graphic>
          <a:graphicData uri="http://schemas.openxmlformats.org/drawingml/2006/table">
            <a:tbl>
              <a:tblPr/>
              <a:tblGrid>
                <a:gridCol w="800313">
                  <a:extLst>
                    <a:ext uri="{9D8B030D-6E8A-4147-A177-3AD203B41FA5}">
                      <a16:colId xmlns:a16="http://schemas.microsoft.com/office/drawing/2014/main" val="1702131653"/>
                    </a:ext>
                  </a:extLst>
                </a:gridCol>
                <a:gridCol w="2561607">
                  <a:extLst>
                    <a:ext uri="{9D8B030D-6E8A-4147-A177-3AD203B41FA5}">
                      <a16:colId xmlns:a16="http://schemas.microsoft.com/office/drawing/2014/main" val="922112323"/>
                    </a:ext>
                  </a:extLst>
                </a:gridCol>
                <a:gridCol w="2432721">
                  <a:extLst>
                    <a:ext uri="{9D8B030D-6E8A-4147-A177-3AD203B41FA5}">
                      <a16:colId xmlns:a16="http://schemas.microsoft.com/office/drawing/2014/main" val="2380187389"/>
                    </a:ext>
                  </a:extLst>
                </a:gridCol>
                <a:gridCol w="3116178">
                  <a:extLst>
                    <a:ext uri="{9D8B030D-6E8A-4147-A177-3AD203B41FA5}">
                      <a16:colId xmlns:a16="http://schemas.microsoft.com/office/drawing/2014/main" val="2356474037"/>
                    </a:ext>
                  </a:extLst>
                </a:gridCol>
              </a:tblGrid>
              <a:tr h="26915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구분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모듈화 </a:t>
                      </a:r>
                      <a:r>
                        <a:rPr lang="en-US" altLang="ko-KR" sz="1200" b="1" dirty="0"/>
                        <a:t>&amp;</a:t>
                      </a:r>
                      <a:r>
                        <a:rPr lang="ko-KR" altLang="en-US" sz="1200" b="1" dirty="0"/>
                        <a:t> 고도화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en-US" altLang="ko-KR" sz="1200" b="1" dirty="0"/>
                        <a:t>(PID</a:t>
                      </a:r>
                      <a:r>
                        <a:rPr lang="ko-KR" altLang="en-US" sz="1200" b="1" dirty="0"/>
                        <a:t>제어</a:t>
                      </a:r>
                      <a:r>
                        <a:rPr lang="en-US" altLang="ko-KR" sz="1200" b="1" dirty="0"/>
                        <a:t>+</a:t>
                      </a:r>
                      <a:r>
                        <a:rPr lang="ko-KR" altLang="en-US" sz="1200" b="1" dirty="0"/>
                        <a:t>열량계산</a:t>
                      </a:r>
                      <a:r>
                        <a:rPr lang="en-US" altLang="ko-KR" sz="1200" b="1" dirty="0"/>
                        <a:t>+</a:t>
                      </a:r>
                      <a:r>
                        <a:rPr lang="ko-KR" altLang="en-US" sz="1200" b="1" dirty="0"/>
                        <a:t>튜닝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ko-KR" altLang="en-US" sz="1200" b="1" dirty="0"/>
                        <a:t>시스템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00494"/>
                  </a:ext>
                </a:extLst>
              </a:tr>
              <a:tr h="269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조건별 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PI</a:t>
                      </a:r>
                      <a:r>
                        <a:rPr lang="ko-KR" altLang="en-US" sz="1200" b="1" dirty="0"/>
                        <a:t>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466826"/>
                  </a:ext>
                </a:extLst>
              </a:tr>
              <a:tr h="79173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주요 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컨셉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환경조건에 따른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개별 제어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수식 기반의 제어 프로그램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온수 모듈화 및 표준제어의 고도화를 통한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온수 공용화 설계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81081"/>
                  </a:ext>
                </a:extLst>
              </a:tr>
              <a:tr h="8126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목표 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온도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편차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± 5</a:t>
                      </a:r>
                      <a:r>
                        <a:rPr lang="ko-KR" altLang="en-US" sz="1000" dirty="0"/>
                        <a:t>℃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추출구 온도 기준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입수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℃</a:t>
                      </a:r>
                      <a:r>
                        <a:rPr lang="en-US" altLang="ko-KR" sz="1000" dirty="0"/>
                        <a:t>,220V)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± 5</a:t>
                      </a:r>
                      <a:r>
                        <a:rPr lang="ko-KR" altLang="en-US" sz="1000" dirty="0"/>
                        <a:t>℃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추출구 온도 기준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입수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℃</a:t>
                      </a:r>
                      <a:r>
                        <a:rPr lang="en-US" altLang="ko-KR" sz="1000" dirty="0"/>
                        <a:t>,220V)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± 3</a:t>
                      </a:r>
                      <a:r>
                        <a:rPr lang="ko-KR" altLang="en-US" sz="1000" dirty="0"/>
                        <a:t>℃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추출구 온도 기준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입수 </a:t>
                      </a:r>
                      <a:r>
                        <a:rPr lang="en-US" altLang="ko-KR" sz="1000" dirty="0"/>
                        <a:t>20</a:t>
                      </a:r>
                      <a:r>
                        <a:rPr lang="ko-KR" altLang="en-US" sz="1000" dirty="0"/>
                        <a:t>℃</a:t>
                      </a:r>
                      <a:r>
                        <a:rPr lang="en-US" altLang="ko-KR" sz="1000" dirty="0"/>
                        <a:t>,220V)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899918"/>
                  </a:ext>
                </a:extLst>
              </a:tr>
              <a:tr h="8126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특징</a:t>
                      </a:r>
                      <a:endParaRPr lang="en-US" altLang="ko-KR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-. NG</a:t>
                      </a:r>
                      <a:r>
                        <a:rPr lang="ko-KR" altLang="en-US" sz="1000" dirty="0"/>
                        <a:t>구간 </a:t>
                      </a:r>
                      <a:r>
                        <a:rPr lang="en-US" altLang="ko-KR" sz="1000" dirty="0"/>
                        <a:t>Pin point </a:t>
                      </a:r>
                      <a:r>
                        <a:rPr lang="ko-KR" altLang="en-US" sz="1000" dirty="0"/>
                        <a:t>수정 가능함</a:t>
                      </a:r>
                      <a:r>
                        <a:rPr lang="en-US" altLang="ko-KR" sz="1000" dirty="0"/>
                        <a:t>.</a:t>
                      </a:r>
                    </a:p>
                    <a:p>
                      <a:pPr algn="l" latinLnBrk="1"/>
                      <a:r>
                        <a:rPr lang="en-US" altLang="ko-KR" sz="1000" dirty="0"/>
                        <a:t>-. </a:t>
                      </a:r>
                      <a:r>
                        <a:rPr lang="ko-KR" altLang="en-US" sz="1000" dirty="0"/>
                        <a:t>튜닝 조건에 대한 오차 발생 적음</a:t>
                      </a:r>
                      <a:endParaRPr lang="en-US" altLang="ko-KR" sz="1000" dirty="0"/>
                    </a:p>
                    <a:p>
                      <a:pPr algn="l" latinLnBrk="1"/>
                      <a:r>
                        <a:rPr lang="en-US" altLang="ko-KR" sz="1000" dirty="0"/>
                        <a:t>-. NG</a:t>
                      </a:r>
                      <a:r>
                        <a:rPr lang="ko-KR" altLang="en-US" sz="1000" dirty="0"/>
                        <a:t>구간에 따라 튜닝 소요시간 증가 </a:t>
                      </a: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aseline="0" dirty="0"/>
                        <a:t>-. </a:t>
                      </a:r>
                      <a:r>
                        <a:rPr lang="ko-KR" altLang="en-US" sz="1000" baseline="0" dirty="0"/>
                        <a:t>연산을 통해 </a:t>
                      </a:r>
                      <a:r>
                        <a:rPr lang="ko-KR" altLang="en-US" sz="1000" b="1" baseline="0" dirty="0"/>
                        <a:t>비교적 코드 간단함</a:t>
                      </a:r>
                      <a:r>
                        <a:rPr lang="en-US" altLang="ko-KR" sz="1000" b="1" baseline="0" dirty="0"/>
                        <a:t>.</a:t>
                      </a:r>
                    </a:p>
                    <a:p>
                      <a:pPr algn="l" latinLnBrk="1"/>
                      <a:r>
                        <a:rPr lang="en-US" altLang="ko-KR" sz="1000" baseline="0" dirty="0"/>
                        <a:t>-. </a:t>
                      </a:r>
                      <a:r>
                        <a:rPr lang="ko-KR" altLang="en-US" sz="1000" baseline="0" dirty="0"/>
                        <a:t>수식이 </a:t>
                      </a:r>
                      <a:r>
                        <a:rPr lang="ko-KR" altLang="en-US" sz="1000" b="0" baseline="0" dirty="0"/>
                        <a:t>조건 및 개체 편차를</a:t>
                      </a:r>
                      <a:endParaRPr lang="en-US" altLang="ko-KR" sz="1000" b="0" baseline="0" dirty="0"/>
                    </a:p>
                    <a:p>
                      <a:pPr algn="l" latinLnBrk="1"/>
                      <a:r>
                        <a:rPr lang="en-US" altLang="ko-KR" sz="1000" b="1" baseline="0" dirty="0"/>
                        <a:t>   </a:t>
                      </a:r>
                      <a:r>
                        <a:rPr lang="ko-KR" altLang="en-US" sz="1000" b="1" baseline="0" dirty="0"/>
                        <a:t>모두 만족하기 어려움</a:t>
                      </a:r>
                      <a:r>
                        <a:rPr lang="en-US" altLang="ko-KR" sz="1000" b="1" baseline="0" dirty="0"/>
                        <a:t>. (</a:t>
                      </a:r>
                      <a:r>
                        <a:rPr lang="ko-KR" altLang="en-US" sz="1000" b="1" baseline="0" dirty="0"/>
                        <a:t>오차 발생</a:t>
                      </a:r>
                      <a:r>
                        <a:rPr lang="en-US" altLang="ko-KR" sz="1000" b="1" baseline="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-. </a:t>
                      </a:r>
                      <a:r>
                        <a:rPr lang="ko-KR" altLang="en-US" sz="1000" b="1" dirty="0"/>
                        <a:t>모듈화</a:t>
                      </a:r>
                      <a:r>
                        <a:rPr lang="ko-KR" altLang="en-US" sz="1000" dirty="0"/>
                        <a:t>를 통한 구조적 변경 </a:t>
                      </a:r>
                      <a:r>
                        <a:rPr lang="ko-KR" altLang="en-US" sz="1000" b="1" dirty="0"/>
                        <a:t>최소화</a:t>
                      </a:r>
                      <a:endParaRPr lang="en-US" altLang="ko-KR" sz="1000" b="1" dirty="0"/>
                    </a:p>
                    <a:p>
                      <a:pPr algn="l" latinLnBrk="1"/>
                      <a:r>
                        <a:rPr lang="en-US" altLang="ko-KR" sz="1000" dirty="0"/>
                        <a:t>-. </a:t>
                      </a:r>
                      <a:r>
                        <a:rPr lang="ko-KR" altLang="en-US" sz="1000" b="1" dirty="0"/>
                        <a:t>고도화</a:t>
                      </a:r>
                      <a:r>
                        <a:rPr lang="ko-KR" altLang="en-US" sz="1000" dirty="0"/>
                        <a:t>를 통한 편차 최소화 및 성능 </a:t>
                      </a:r>
                      <a:r>
                        <a:rPr lang="ko-KR" altLang="en-US" sz="1000" b="1" dirty="0"/>
                        <a:t>안정화</a:t>
                      </a:r>
                      <a:endParaRPr lang="en-US" altLang="ko-KR" sz="1000" b="1" dirty="0"/>
                    </a:p>
                    <a:p>
                      <a:pPr algn="l" latinLnBrk="1"/>
                      <a:r>
                        <a:rPr lang="en-US" altLang="ko-KR" sz="1000" dirty="0"/>
                        <a:t>-. </a:t>
                      </a:r>
                      <a:r>
                        <a:rPr lang="ko-KR" altLang="en-US" sz="1000" b="1" dirty="0"/>
                        <a:t>튜닝 시스템 </a:t>
                      </a:r>
                      <a:r>
                        <a:rPr lang="ko-KR" altLang="en-US" sz="1000" dirty="0"/>
                        <a:t>반영을 통해 작업 공수 </a:t>
                      </a:r>
                      <a:r>
                        <a:rPr lang="ko-KR" altLang="en-US" sz="1000" b="1" dirty="0"/>
                        <a:t>최소화</a:t>
                      </a:r>
                      <a:endParaRPr lang="en-US" altLang="ko-KR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093868"/>
                  </a:ext>
                </a:extLst>
              </a:tr>
              <a:tr h="171387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endParaRPr lang="en-US" altLang="ko-KR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02751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E21741A0-B055-F252-B8C2-E0A4251DD81B}"/>
              </a:ext>
            </a:extLst>
          </p:cNvPr>
          <p:cNvSpPr/>
          <p:nvPr/>
        </p:nvSpPr>
        <p:spPr>
          <a:xfrm>
            <a:off x="5899661" y="1441344"/>
            <a:ext cx="3118007" cy="46796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350AD31-5E1D-F24F-4AD8-4E43B60B27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6"/>
          <a:stretch/>
        </p:blipFill>
        <p:spPr bwMode="auto">
          <a:xfrm>
            <a:off x="6134461" y="4556754"/>
            <a:ext cx="2718598" cy="142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E65FAE8-BEC0-8F20-1780-0D6F08C62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632" y="4556754"/>
            <a:ext cx="2507109" cy="15256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7EEF26-0199-ECD5-7700-736DBC9C2469}"/>
              </a:ext>
            </a:extLst>
          </p:cNvPr>
          <p:cNvSpPr txBox="1"/>
          <p:nvPr/>
        </p:nvSpPr>
        <p:spPr>
          <a:xfrm>
            <a:off x="2385375" y="5416799"/>
            <a:ext cx="2603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온도 스윙 존재</a:t>
            </a:r>
            <a:endParaRPr lang="en-US" altLang="ko-KR" sz="1000" b="1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스윙 폭에 따라 물 끊김</a:t>
            </a:r>
            <a:r>
              <a:rPr lang="en-US" altLang="ko-KR" sz="1000" dirty="0"/>
              <a:t>, </a:t>
            </a:r>
            <a:r>
              <a:rPr lang="ko-KR" altLang="en-US" sz="1000" dirty="0"/>
              <a:t>스팀 등 발생 가능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E0EA9F8-903F-FA94-79DF-16C11AEF000C}"/>
              </a:ext>
            </a:extLst>
          </p:cNvPr>
          <p:cNvCxnSpPr>
            <a:cxnSpLocks/>
          </p:cNvCxnSpPr>
          <p:nvPr/>
        </p:nvCxnSpPr>
        <p:spPr>
          <a:xfrm flipV="1">
            <a:off x="3687092" y="5132532"/>
            <a:ext cx="0" cy="2515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7CF5AD-0800-F7C8-3ADE-098A33E23259}"/>
              </a:ext>
            </a:extLst>
          </p:cNvPr>
          <p:cNvSpPr txBox="1"/>
          <p:nvPr/>
        </p:nvSpPr>
        <p:spPr>
          <a:xfrm>
            <a:off x="7397775" y="5480367"/>
            <a:ext cx="11685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온도 스윙 최소화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490D079-BC28-9F6F-1B3C-6CCD7FC52C32}"/>
              </a:ext>
            </a:extLst>
          </p:cNvPr>
          <p:cNvCxnSpPr>
            <a:cxnSpLocks/>
          </p:cNvCxnSpPr>
          <p:nvPr/>
        </p:nvCxnSpPr>
        <p:spPr>
          <a:xfrm flipV="1">
            <a:off x="7982064" y="5145782"/>
            <a:ext cx="0" cy="2523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53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9423460-5457-D5E3-49FE-792F270FE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65268"/>
              </p:ext>
            </p:extLst>
          </p:nvPr>
        </p:nvGraphicFramePr>
        <p:xfrm>
          <a:off x="373911" y="1029873"/>
          <a:ext cx="8396178" cy="4853569"/>
        </p:xfrm>
        <a:graphic>
          <a:graphicData uri="http://schemas.openxmlformats.org/drawingml/2006/table">
            <a:tbl>
              <a:tblPr/>
              <a:tblGrid>
                <a:gridCol w="8396178">
                  <a:extLst>
                    <a:ext uri="{9D8B030D-6E8A-4147-A177-3AD203B41FA5}">
                      <a16:colId xmlns:a16="http://schemas.microsoft.com/office/drawing/2014/main" val="2356474037"/>
                    </a:ext>
                  </a:extLst>
                </a:gridCol>
              </a:tblGrid>
              <a:tr h="5383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/>
                        <a:t>표준화 모듈 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00494"/>
                  </a:ext>
                </a:extLst>
              </a:tr>
              <a:tr h="4315259">
                <a:tc>
                  <a:txBody>
                    <a:bodyPr/>
                    <a:lstStyle/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027511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906C43-BCDD-868B-0D00-D8F75636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D9ABCEF-4D82-E712-9911-5738B5EBF009}"/>
              </a:ext>
            </a:extLst>
          </p:cNvPr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Concept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5AB6CD-39C5-7065-3B47-5394FAD32D9C}"/>
              </a:ext>
            </a:extLst>
          </p:cNvPr>
          <p:cNvSpPr txBox="1"/>
          <p:nvPr/>
        </p:nvSpPr>
        <p:spPr>
          <a:xfrm>
            <a:off x="3735870" y="5516935"/>
            <a:ext cx="1672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표준화 제어 시스템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8D354D6-E1EF-3141-4B4D-20813C3B9938}"/>
              </a:ext>
            </a:extLst>
          </p:cNvPr>
          <p:cNvGrpSpPr/>
          <p:nvPr/>
        </p:nvGrpSpPr>
        <p:grpSpPr>
          <a:xfrm>
            <a:off x="1918607" y="4281365"/>
            <a:ext cx="5306781" cy="1106865"/>
            <a:chOff x="1039027" y="3999443"/>
            <a:chExt cx="5306781" cy="110686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E0138FE-7ADD-D1AF-316E-E42D78F762E0}"/>
                </a:ext>
              </a:extLst>
            </p:cNvPr>
            <p:cNvSpPr/>
            <p:nvPr/>
          </p:nvSpPr>
          <p:spPr>
            <a:xfrm>
              <a:off x="1039027" y="3999443"/>
              <a:ext cx="5306781" cy="11068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온수 제어 모듈화</a:t>
              </a:r>
              <a:endParaRPr lang="en-US" altLang="ko-KR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817B53A-9370-340F-51D3-E07C102A0C6E}"/>
                </a:ext>
              </a:extLst>
            </p:cNvPr>
            <p:cNvSpPr/>
            <p:nvPr/>
          </p:nvSpPr>
          <p:spPr>
            <a:xfrm>
              <a:off x="1152216" y="4260214"/>
              <a:ext cx="1198814" cy="6989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전력 추정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열역학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실측 </a:t>
              </a:r>
              <a:r>
                <a:rPr lang="ko-KR" altLang="en-US" sz="105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추세식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AE4BC4E-0754-1A73-2381-54F11A11C4CC}"/>
                </a:ext>
              </a:extLst>
            </p:cNvPr>
            <p:cNvSpPr/>
            <p:nvPr/>
          </p:nvSpPr>
          <p:spPr>
            <a:xfrm>
              <a:off x="2416760" y="4266648"/>
              <a:ext cx="1198814" cy="6989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[PID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제어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D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 추가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적응형 게인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644CB90-DE71-2552-149B-2C11F6964CC0}"/>
                </a:ext>
              </a:extLst>
            </p:cNvPr>
            <p:cNvSpPr/>
            <p:nvPr/>
          </p:nvSpPr>
          <p:spPr>
            <a:xfrm>
              <a:off x="3681304" y="4260214"/>
              <a:ext cx="1198814" cy="6989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센서 처리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온도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유량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전류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ADC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2A822CC-06B4-D8F0-D7A8-200E07A3B26D}"/>
                </a:ext>
              </a:extLst>
            </p:cNvPr>
            <p:cNvSpPr/>
            <p:nvPr/>
          </p:nvSpPr>
          <p:spPr>
            <a:xfrm>
              <a:off x="4945848" y="4260213"/>
              <a:ext cx="1198729" cy="698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튜닝 시스템</a:t>
              </a:r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제어 모니터링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05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실시간 튜닝</a:t>
              </a:r>
              <a:endParaRPr lang="en-US" altLang="ko-KR" sz="10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5BCE32F-7FD9-ED70-740E-522344E27C63}"/>
              </a:ext>
            </a:extLst>
          </p:cNvPr>
          <p:cNvGrpSpPr/>
          <p:nvPr/>
        </p:nvGrpSpPr>
        <p:grpSpPr>
          <a:xfrm>
            <a:off x="1733565" y="1662526"/>
            <a:ext cx="6167288" cy="1747815"/>
            <a:chOff x="1733565" y="1662526"/>
            <a:chExt cx="6167288" cy="174781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47969E5-5D37-39F6-7091-614FC8667A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3565" y="1662526"/>
              <a:ext cx="6167288" cy="1747815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DD2E85D-C838-406E-DBE6-C17BE08B4810}"/>
                </a:ext>
              </a:extLst>
            </p:cNvPr>
            <p:cNvSpPr/>
            <p:nvPr/>
          </p:nvSpPr>
          <p:spPr>
            <a:xfrm>
              <a:off x="3591426" y="2071617"/>
              <a:ext cx="577516" cy="189604"/>
            </a:xfrm>
            <a:prstGeom prst="rect">
              <a:avLst/>
            </a:prstGeom>
            <a:solidFill>
              <a:srgbClr val="E8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히터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BA65202-648A-E4BF-DCFE-3303DC317B2D}"/>
              </a:ext>
            </a:extLst>
          </p:cNvPr>
          <p:cNvSpPr txBox="1"/>
          <p:nvPr/>
        </p:nvSpPr>
        <p:spPr>
          <a:xfrm>
            <a:off x="4021207" y="3290500"/>
            <a:ext cx="1101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모듈화 구조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4110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0906C43-BCDD-868B-0D00-D8F75636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D9ABCEF-4D82-E712-9911-5738B5EBF009}"/>
              </a:ext>
            </a:extLst>
          </p:cNvPr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2-2.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Concept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3B107-6F61-31DC-BBB4-13A4FFFEA188}"/>
              </a:ext>
            </a:extLst>
          </p:cNvPr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제어 고도화 방안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9423460-5457-D5E3-49FE-792F270FE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171486"/>
              </p:ext>
            </p:extLst>
          </p:nvPr>
        </p:nvGraphicFramePr>
        <p:xfrm>
          <a:off x="110559" y="1237255"/>
          <a:ext cx="8886756" cy="4491427"/>
        </p:xfrm>
        <a:graphic>
          <a:graphicData uri="http://schemas.openxmlformats.org/drawingml/2006/table">
            <a:tbl>
              <a:tblPr/>
              <a:tblGrid>
                <a:gridCol w="800313">
                  <a:extLst>
                    <a:ext uri="{9D8B030D-6E8A-4147-A177-3AD203B41FA5}">
                      <a16:colId xmlns:a16="http://schemas.microsoft.com/office/drawing/2014/main" val="1702131653"/>
                    </a:ext>
                  </a:extLst>
                </a:gridCol>
                <a:gridCol w="3177559">
                  <a:extLst>
                    <a:ext uri="{9D8B030D-6E8A-4147-A177-3AD203B41FA5}">
                      <a16:colId xmlns:a16="http://schemas.microsoft.com/office/drawing/2014/main" val="922112323"/>
                    </a:ext>
                  </a:extLst>
                </a:gridCol>
                <a:gridCol w="4908884">
                  <a:extLst>
                    <a:ext uri="{9D8B030D-6E8A-4147-A177-3AD203B41FA5}">
                      <a16:colId xmlns:a16="http://schemas.microsoft.com/office/drawing/2014/main" val="2356474037"/>
                    </a:ext>
                  </a:extLst>
                </a:gridCol>
              </a:tblGrid>
              <a:tr h="3007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구분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기존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개선안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00494"/>
                  </a:ext>
                </a:extLst>
              </a:tr>
              <a:tr h="1813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초기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히터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체크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히터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실측값에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ADC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추세식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계산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선형식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개체 특성 편차로 수식 틀어짐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전력 차이 발생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하한치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히터 평균값에 대한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추세식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계산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다항식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-&gt;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오차 최소화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히터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실측값에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승온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데이터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&amp;ADC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매핑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히터 고유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저항값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역산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027511"/>
                  </a:ext>
                </a:extLst>
              </a:tr>
              <a:tr h="1813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PWM</a:t>
                      </a:r>
                    </a:p>
                    <a:p>
                      <a:pPr algn="ctr" latinLnBrk="1"/>
                      <a:r>
                        <a:rPr lang="ko-KR" altLang="en-US" sz="1200" b="1" dirty="0"/>
                        <a:t>제어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-. PWM Duty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따른 초기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</a:t>
                      </a:r>
                    </a:p>
                    <a:p>
                      <a:pPr algn="l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온도 상승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손실 구간 발생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스윙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algn="l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-. PWM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균등 분배 방식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온도 스윙 개선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Font typeface="Symbol" panose="05050102010706020507" pitchFamily="18" charset="2"/>
                        <a:buNone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74616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B141176-2DFE-90C1-A42A-D099E23E5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896"/>
          <a:stretch/>
        </p:blipFill>
        <p:spPr>
          <a:xfrm>
            <a:off x="1009823" y="1681985"/>
            <a:ext cx="1021209" cy="15429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AD3B79-9623-AFEC-FA74-41348CDF9F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62"/>
          <a:stretch/>
        </p:blipFill>
        <p:spPr>
          <a:xfrm>
            <a:off x="5447999" y="1681985"/>
            <a:ext cx="2288274" cy="13811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FCFDA32-AA2A-FCC4-27B9-C7D8FCD46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660" y="1896630"/>
            <a:ext cx="1975161" cy="116649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D02F496-DF80-A401-C743-22729BB2F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519" y="4165995"/>
            <a:ext cx="1617323" cy="78339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60C8B0C-838E-DA98-EC8C-38D6D3CFC0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475" y="4165995"/>
            <a:ext cx="1617323" cy="9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09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22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3-1.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목표 수립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순간온수 표준 시스템 고도화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860655"/>
              </p:ext>
            </p:extLst>
          </p:nvPr>
        </p:nvGraphicFramePr>
        <p:xfrm>
          <a:off x="107504" y="1268760"/>
          <a:ext cx="8928994" cy="5288448"/>
        </p:xfrm>
        <a:graphic>
          <a:graphicData uri="http://schemas.openxmlformats.org/drawingml/2006/table">
            <a:tbl>
              <a:tblPr firstRow="1" bandRow="1"/>
              <a:tblGrid>
                <a:gridCol w="607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4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5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5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4029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조건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현수준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29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경쟁사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</a:t>
                      </a:r>
                      <a:endParaRPr lang="ko-KR" altLang="en-US" sz="1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R2</a:t>
                      </a:r>
                      <a:endParaRPr lang="ko-KR" altLang="en-US" sz="1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R3</a:t>
                      </a:r>
                      <a:endParaRPr lang="ko-KR" altLang="en-US" sz="10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1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2025.10.20. ~ 2026.00.00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냉동보관 정수기 적용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2026.06.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출시 예정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28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고도화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히터전력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오차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이내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컵 온도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P-P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차이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온도 스윙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±5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℃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±5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℃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±3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℃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083551"/>
                  </a:ext>
                </a:extLst>
              </a:tr>
              <a:tr h="723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39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튜닝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이식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튜닝 시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공수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이내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~~~~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39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5004049" y="1521336"/>
            <a:ext cx="691902" cy="5279514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238802" y="836192"/>
            <a:ext cx="3610423" cy="1638657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-. 7Page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평가지표 中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성능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과 동일한 값 표기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-.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값은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값으로 설정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-.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목표 측정을 위한 시험 조건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기존 현수준 등 기입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R1, R2, R3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해당하는 단계 칸에 색깔 표시 후 테두리 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2765923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23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89248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1" i="0" u="none" strike="noStrike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spc="-60" dirty="0"/>
              <a:t>3-2. </a:t>
            </a:r>
            <a:r>
              <a:rPr lang="ko-KR" altLang="en-US" spc="-60" dirty="0"/>
              <a:t>기술 개발 목표 수립</a:t>
            </a:r>
            <a:r>
              <a:rPr lang="en-US" altLang="ko-KR" spc="-60" dirty="0"/>
              <a:t> - </a:t>
            </a:r>
            <a:r>
              <a:rPr lang="ko-KR" altLang="en-US" spc="-60" dirty="0"/>
              <a:t>기술 확보 시 기대 효과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고도화된 시스템으로 성능</a:t>
            </a: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안정화</a:t>
            </a:r>
            <a:endParaRPr lang="en-US" altLang="ko-KR" sz="24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20795"/>
              </p:ext>
            </p:extLst>
          </p:nvPr>
        </p:nvGraphicFramePr>
        <p:xfrm>
          <a:off x="537826" y="1324286"/>
          <a:ext cx="8319867" cy="4696590"/>
        </p:xfrm>
        <a:graphic>
          <a:graphicData uri="http://schemas.openxmlformats.org/drawingml/2006/table">
            <a:tbl>
              <a:tblPr firstRow="1" bandRow="1"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8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52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504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정량적 기대효과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정성적 기대효과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041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효과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판매량 증대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37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7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 시스템 고도화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 성능 안정화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 온도 편차 안정화 확보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 튐 및 끊김 개선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5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 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 단축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05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설계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공수 단축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개발기간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안정화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 제어시스템 설계 공수 단축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온수 튜닝 작업 방식 개선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96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96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33087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24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4-1.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추진 전략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방안</a:t>
            </a: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42061"/>
              </p:ext>
            </p:extLst>
          </p:nvPr>
        </p:nvGraphicFramePr>
        <p:xfrm>
          <a:off x="395536" y="1340762"/>
          <a:ext cx="8136904" cy="4372296"/>
        </p:xfrm>
        <a:graphic>
          <a:graphicData uri="http://schemas.openxmlformats.org/drawingml/2006/table">
            <a:tbl>
              <a:tblPr firstRow="1" bandRow="1"/>
              <a:tblGrid>
                <a:gridCol w="783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24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038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현수준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과제 목표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 방안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목표일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76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Spec.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~~~~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6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76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768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원가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(MC)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272538" y="-3706"/>
            <a:ext cx="3292350" cy="840418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 시 목차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(8Page)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생략체크 및 생략사유 기입 후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페이지 삭제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5908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25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4-2. 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추진 전략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예상 문제점 및 대책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2400" b="1" i="0" u="none" strike="noStrike" kern="1200" cap="none" spc="-15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95485"/>
              </p:ext>
            </p:extLst>
          </p:nvPr>
        </p:nvGraphicFramePr>
        <p:xfrm>
          <a:off x="395536" y="1484784"/>
          <a:ext cx="8319868" cy="4801716"/>
        </p:xfrm>
        <a:graphic>
          <a:graphicData uri="http://schemas.openxmlformats.org/drawingml/2006/table">
            <a:tbl>
              <a:tblPr firstRow="1" bandRow="1"/>
              <a:tblGrid>
                <a:gridCol w="1043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0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1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48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altLang="ko-KR" sz="11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 문제점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예방 및 대응 방안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48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이슈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50000"/>
                        <a:lumOff val="5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개발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 확보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</a:t>
                      </a:r>
                      <a:r>
                        <a:rPr lang="en-US" altLang="ko-KR" sz="1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 평가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~~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기술에 대한 자사의 신뢰성 기준 부재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신뢰성센터와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R2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단계부터 협의하여 자사 신뢰성 평가 방법과 기준 확립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 적용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이관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개발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서비스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812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법규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규제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272538" y="-3706"/>
            <a:ext cx="3292350" cy="840418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 시 목차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(8Page)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생략체크 및 생략사유 기입 후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페이지 삭제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6906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26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4-3. 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추진 전략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2400" b="1" i="0" u="none" strike="noStrike" kern="120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kumimoji="0" lang="en-US" altLang="ko-KR" sz="2400" b="1" i="0" u="none" strike="noStrike" kern="1200" cap="none" spc="-1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인력 운영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2400" b="1" i="0" u="none" strike="noStrike" kern="1200" cap="none" spc="-15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744008"/>
              </p:ext>
            </p:extLst>
          </p:nvPr>
        </p:nvGraphicFramePr>
        <p:xfrm>
          <a:off x="433373" y="3933056"/>
          <a:ext cx="8386898" cy="1800197"/>
        </p:xfrm>
        <a:graphic>
          <a:graphicData uri="http://schemas.openxmlformats.org/drawingml/2006/table">
            <a:tbl>
              <a:tblPr firstRow="1" bandRow="1"/>
              <a:tblGrid>
                <a:gridCol w="1115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9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27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소속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R&amp;R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 분야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PJT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 기간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투입 공수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(Day)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공효진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메인담당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mm.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~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mm.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0000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강하늘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mm.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~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mm. </a:t>
                      </a:r>
                      <a:r>
                        <a:rPr lang="en-US" altLang="ko-KR" sz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717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투입 공수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(Day)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7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공수 합계 기입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23528" y="5904166"/>
            <a:ext cx="4572000" cy="3877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*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기술과제의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PM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기본적으로 팀장입니다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(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부문과 기술과제 예외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기술과제를 주도적으로 이끌어가는 연구원은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기술과제 담당자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＇</a:t>
            </a:r>
            <a:r>
              <a:rPr lang="ko-KR" altLang="en-US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672000" y="1124744"/>
            <a:ext cx="1800000" cy="90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18800" y="1292117"/>
            <a:ext cx="720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공효진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578565" y="2444524"/>
            <a:ext cx="1800000" cy="900000"/>
            <a:chOff x="1852489" y="2494970"/>
            <a:chExt cx="1800000" cy="900000"/>
          </a:xfrm>
        </p:grpSpPr>
        <p:sp>
          <p:nvSpPr>
            <p:cNvPr id="10" name="직사각형 9"/>
            <p:cNvSpPr/>
            <p:nvPr/>
          </p:nvSpPr>
          <p:spPr>
            <a:xfrm>
              <a:off x="1852489" y="2494970"/>
              <a:ext cx="1800000" cy="90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00402" y="2650790"/>
              <a:ext cx="93610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00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설계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강하늘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3648782" y="2444524"/>
            <a:ext cx="1818456" cy="900000"/>
            <a:chOff x="1852489" y="2494970"/>
            <a:chExt cx="1818456" cy="900000"/>
          </a:xfrm>
        </p:grpSpPr>
        <p:sp>
          <p:nvSpPr>
            <p:cNvPr id="13" name="직사각형 12"/>
            <p:cNvSpPr/>
            <p:nvPr/>
          </p:nvSpPr>
          <p:spPr>
            <a:xfrm>
              <a:off x="1852489" y="2494970"/>
              <a:ext cx="1800000" cy="90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09927" y="2650790"/>
              <a:ext cx="116101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00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남궁민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727930" y="2444524"/>
            <a:ext cx="1837506" cy="900000"/>
            <a:chOff x="1852489" y="2494970"/>
            <a:chExt cx="1837506" cy="900000"/>
          </a:xfrm>
        </p:grpSpPr>
        <p:sp>
          <p:nvSpPr>
            <p:cNvPr id="16" name="직사각형 15"/>
            <p:cNvSpPr/>
            <p:nvPr/>
          </p:nvSpPr>
          <p:spPr>
            <a:xfrm>
              <a:off x="1852489" y="2494970"/>
              <a:ext cx="1800000" cy="9000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528977" y="2650790"/>
              <a:ext cx="116101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00 </a:t>
              </a:r>
              <a:r>
                <a:rPr kumimoji="0" lang="ko-KR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박은빈</a:t>
              </a:r>
              <a:endPara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/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748973" y="1224596"/>
            <a:ext cx="576000" cy="720000"/>
          </a:xfrm>
          <a:prstGeom prst="rect">
            <a:avLst/>
          </a:prstGeom>
        </p:spPr>
      </p:pic>
      <p:pic>
        <p:nvPicPr>
          <p:cNvPr id="19" name="그림 1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52320" y="2547614"/>
            <a:ext cx="576000" cy="720000"/>
          </a:xfrm>
          <a:prstGeom prst="rect">
            <a:avLst/>
          </a:prstGeom>
        </p:spPr>
      </p:pic>
      <p:pic>
        <p:nvPicPr>
          <p:cNvPr id="20" name="그림 19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748003" y="2547614"/>
            <a:ext cx="576000" cy="720000"/>
          </a:xfrm>
          <a:prstGeom prst="rect">
            <a:avLst/>
          </a:prstGeom>
        </p:spPr>
      </p:pic>
      <p:pic>
        <p:nvPicPr>
          <p:cNvPr id="21" name="그림 2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824548" y="2547614"/>
            <a:ext cx="576000" cy="72000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2882561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27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4-4. 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추진 전략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방안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kumimoji="0" lang="ko-KR" altLang="en-US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 개발 투자 비용</a:t>
            </a:r>
            <a:r>
              <a:rPr kumimoji="0" lang="en-US" altLang="ko-KR" sz="2400" b="1" i="0" u="none" strike="noStrike" kern="1200" cap="none" spc="-15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2400" b="1" i="0" u="none" strike="noStrike" kern="1200" cap="none" spc="-150" normalizeH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31493"/>
              </p:ext>
            </p:extLst>
          </p:nvPr>
        </p:nvGraphicFramePr>
        <p:xfrm>
          <a:off x="322834" y="1340768"/>
          <a:ext cx="8569655" cy="4479007"/>
        </p:xfrm>
        <a:graphic>
          <a:graphicData uri="http://schemas.openxmlformats.org/drawingml/2006/table">
            <a:tbl>
              <a:tblPr/>
              <a:tblGrid>
                <a:gridCol w="1874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1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3527279607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649470141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3773370942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180105176"/>
                    </a:ext>
                  </a:extLst>
                </a:gridCol>
                <a:gridCol w="40000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14064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계정명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 근거</a:t>
                      </a:r>
                      <a:endParaRPr lang="en-US" altLang="ko-KR" sz="1100" b="1" i="0" u="none" strike="noStrike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 baseline="0" dirty="0">
                          <a:solidFill>
                            <a:srgbClr val="FFFF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정량적 표현 必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R1,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R2,</a:t>
                      </a:r>
                      <a:r>
                        <a:rPr lang="en-US" altLang="ko-KR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R3 </a:t>
                      </a:r>
                      <a:r>
                        <a:rPr lang="ko-KR" altLang="en-US" sz="11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표기</a:t>
                      </a:r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endParaRPr lang="en-US" alt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ctr" fontAlgn="ctr"/>
                      <a:r>
                        <a:rPr lang="en-US" altLang="ko-KR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경상개발비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연구개발소모품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Ass’y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및 성능 평가</a:t>
                      </a: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/set x 10set x 20</a:t>
                      </a:r>
                      <a:r>
                        <a:rPr lang="en-US" altLang="ko-KR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 600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만원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600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경상개발비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연구개발샘플구입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1,200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경상개발비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목업비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6,000 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3,000 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지급수수료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사외시험의뢰비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(QC)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Arial" panose="020B0604020202020204" pitchFamily="34" charset="0"/>
                        <a:buNone/>
                      </a:pP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29407"/>
                  </a:ext>
                </a:extLst>
              </a:tr>
              <a:tr h="6400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지급수수료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인증수수료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0479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투자비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10,300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50000"/>
                      </a:sysClr>
                    </a:solidFill>
                  </a:tcPr>
                </a:tc>
                <a:tc gridSpan="1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고딕"/>
                          <a:ea typeface="나눔고딕"/>
                        </a:defRPr>
                      </a:lvl9pPr>
                    </a:lstStyle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56376" y="1052736"/>
            <a:ext cx="864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천원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오른쪽 화살표 6"/>
          <p:cNvSpPr/>
          <p:nvPr/>
        </p:nvSpPr>
        <p:spPr>
          <a:xfrm flipH="1">
            <a:off x="9213019" y="1491331"/>
            <a:ext cx="180020" cy="125399"/>
          </a:xfrm>
          <a:prstGeom prst="rightArrow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393039" y="1302002"/>
            <a:ext cx="2052228" cy="504056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R1, R2, R3 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해당되는 단계 및</a:t>
            </a:r>
            <a:endParaRPr kumimoji="0" lang="en-US" altLang="ko-KR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집행 예정 월로 수정 후 기입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9228149" y="2093615"/>
            <a:ext cx="3837923" cy="1659236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경영관리본부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PJT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예산 관리 강화로 인하여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산출근거는 정량적 표현으로 명확히 기재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부탁드립니다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(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소모품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00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테스트 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00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시료 구입 개당 단가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X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수량</a:t>
            </a:r>
            <a:endParaRPr kumimoji="0" lang="en-US" altLang="ko-KR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1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kumimoji="0" lang="ko-KR" altLang="en-US" sz="11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목업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견적서 등 투자비에 대한 근거 자료가 있으시면 </a:t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뒷장에 추가 부탁드립니다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325" y="5861586"/>
            <a:ext cx="860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※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기술 개발 비용 집행 시 반드시 항목별로 처리한다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 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→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PJT </a:t>
            </a:r>
            <a:r>
              <a:rPr lang="ko-KR" altLang="en-US" sz="1000" dirty="0">
                <a:solidFill>
                  <a:prstClr val="black"/>
                </a:solidFill>
                <a:latin typeface="+mn-ea"/>
              </a:rPr>
              <a:t>비용 처리 시 각 액션 아이템 및 항목별 집행 기안 후 처리한다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endParaRPr lang="en-US" altLang="ko-KR" sz="10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756775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398B3-097E-4013-B793-1AF68D872714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28</a:t>
            </a:fld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제목 1"/>
          <p:cNvSpPr txBox="1">
            <a:spLocks/>
          </p:cNvSpPr>
          <p:nvPr/>
        </p:nvSpPr>
        <p:spPr>
          <a:xfrm>
            <a:off x="251520" y="4616"/>
            <a:ext cx="8640960" cy="62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#.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핵심 기술 보호 전략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596" y="775590"/>
            <a:ext cx="8286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350" y="1418021"/>
            <a:ext cx="2067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논의 안건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825" y="2991224"/>
            <a:ext cx="5905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기술 개발 전략 방향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23377" y="3414748"/>
            <a:ext cx="8497245" cy="282412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2357533" y="2745002"/>
            <a:ext cx="4765675" cy="83099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자유양식으로</a:t>
            </a:r>
            <a:endParaRPr kumimoji="0" lang="en-US" altLang="ko-KR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구매팀과</a:t>
            </a:r>
            <a:r>
              <a:rPr kumimoji="0" lang="ko-KR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협의된 사항 작성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201194" y="3905907"/>
            <a:ext cx="3946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전략 및 일정을 포함해 주세요</a:t>
            </a:r>
            <a:r>
              <a:rPr lang="en-US" altLang="ko-KR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</a:t>
            </a:r>
            <a:endParaRPr lang="ko-KR" altLang="en-US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3378" y="1826287"/>
            <a:ext cx="8497244" cy="862934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-3654253" y="549635"/>
            <a:ext cx="3546316" cy="476744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b="1" u="none" strike="noStrike" kern="0" cap="none" spc="-15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구매팀</a:t>
            </a:r>
            <a:r>
              <a:rPr kumimoji="0" lang="ko-KR" altLang="en-US" b="1" u="none" strike="noStrike" kern="0" cap="none" spc="-15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사전 협의 과제 대상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272537" y="346337"/>
            <a:ext cx="3462388" cy="1240961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kumimoji="0" lang="ko-KR" alt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협력사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와 이슈가 예상되는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과제는 필히 작성할 것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양산 등 기술개발 후 사항 고려</a:t>
            </a:r>
            <a:r>
              <a:rPr kumimoji="0" lang="en-US" altLang="ko-KR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1800" b="1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-1260065" y="0"/>
            <a:ext cx="1152128" cy="486051"/>
          </a:xfrm>
          <a:prstGeom prst="rect">
            <a:avLst/>
          </a:prstGeom>
          <a:gradFill rotWithShape="1">
            <a:gsLst>
              <a:gs pos="0">
                <a:srgbClr val="C0504D">
                  <a:shade val="51000"/>
                  <a:satMod val="130000"/>
                </a:srgbClr>
              </a:gs>
              <a:gs pos="80000">
                <a:srgbClr val="C0504D">
                  <a:shade val="93000"/>
                  <a:satMod val="130000"/>
                </a:srgbClr>
              </a:gs>
              <a:gs pos="100000">
                <a:srgbClr val="C0504D">
                  <a:shade val="94000"/>
                  <a:satMod val="135000"/>
                </a:srgbClr>
              </a:gs>
            </a:gsLst>
            <a:lin ang="16200000" scaled="0"/>
          </a:gradFill>
          <a:ln w="9525" cap="flat" cmpd="sng" algn="ctr">
            <a:solidFill>
              <a:srgbClr val="C0504D">
                <a:shade val="95000"/>
                <a:satMod val="105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필수</a:t>
            </a:r>
          </a:p>
        </p:txBody>
      </p:sp>
    </p:spTree>
    <p:extLst>
      <p:ext uri="{BB962C8B-B14F-4D97-AF65-F5344CB8AC3E}">
        <p14:creationId xmlns:p14="http://schemas.microsoft.com/office/powerpoint/2010/main" val="1781394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257207" y="332656"/>
            <a:ext cx="3309987" cy="15841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완료 후 절차 안내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과제계획서 작성 후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메일 내 기한까지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endParaRPr lang="en-US" altLang="ko-KR" sz="1000" b="1" u="sng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b="1" u="sng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담당자에게 계획서 파일을 </a:t>
            </a:r>
            <a:r>
              <a:rPr lang="ko-KR" altLang="en-US" sz="1000" b="1" u="sng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회신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주셔야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합니다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지표 및 일정 先 검토 진행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0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기술전략팀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사전 검수 후 수정사항에 대해</a:t>
            </a:r>
            <a:endParaRPr lang="en-US" altLang="ko-KR" sz="10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개별 연락드릴 예정입니다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(</a:t>
            </a:r>
            <a:r>
              <a:rPr lang="ko-KR" altLang="en-US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검토 필요 시 수정 요청 예정</a:t>
            </a:r>
            <a:r>
              <a:rPr lang="en-US" altLang="ko-KR" sz="10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63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2696</TotalTime>
  <Words>5134</Words>
  <Application>Microsoft Office PowerPoint</Application>
  <PresentationFormat>화면 슬라이드 쇼(4:3)</PresentationFormat>
  <Paragraphs>1338</Paragraphs>
  <Slides>29</Slides>
  <Notes>0</Notes>
  <HiddenSlides>3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netmarble Medium</vt:lpstr>
      <vt:lpstr>Noto Sans Symbols</vt:lpstr>
      <vt:lpstr>나눔고딕</vt:lpstr>
      <vt:lpstr>Malgun Gothic</vt:lpstr>
      <vt:lpstr>Malgun Gothic</vt:lpstr>
      <vt:lpstr>Arial</vt:lpstr>
      <vt:lpstr>Arial monospaced for SAP</vt:lpstr>
      <vt:lpstr>Calibri</vt:lpstr>
      <vt:lpstr>Symbol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Coway</dc:creator>
  <cp:lastModifiedBy>최범락[Water전장개발팀/팀원]</cp:lastModifiedBy>
  <cp:revision>213</cp:revision>
  <cp:lastPrinted>2022-10-11T04:01:00Z</cp:lastPrinted>
  <dcterms:created xsi:type="dcterms:W3CDTF">2018-10-12T07:43:35Z</dcterms:created>
  <dcterms:modified xsi:type="dcterms:W3CDTF">2025-11-06T02:17:53Z</dcterms:modified>
</cp:coreProperties>
</file>